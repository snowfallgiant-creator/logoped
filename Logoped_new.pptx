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9" r:id="rId2"/>
    <p:sldId id="282" r:id="rId3"/>
    <p:sldId id="283" r:id="rId4"/>
    <p:sldId id="281" r:id="rId5"/>
    <p:sldId id="278" r:id="rId6"/>
    <p:sldId id="284" r:id="rId7"/>
    <p:sldId id="296" r:id="rId8"/>
    <p:sldId id="306" r:id="rId9"/>
    <p:sldId id="307" r:id="rId10"/>
    <p:sldId id="285" r:id="rId11"/>
    <p:sldId id="286" r:id="rId12"/>
    <p:sldId id="287" r:id="rId13"/>
    <p:sldId id="288" r:id="rId14"/>
    <p:sldId id="289" r:id="rId15"/>
    <p:sldId id="297" r:id="rId16"/>
    <p:sldId id="298" r:id="rId17"/>
    <p:sldId id="299" r:id="rId18"/>
    <p:sldId id="301" r:id="rId19"/>
    <p:sldId id="300" r:id="rId20"/>
    <p:sldId id="302" r:id="rId21"/>
    <p:sldId id="308" r:id="rId22"/>
    <p:sldId id="290" r:id="rId23"/>
    <p:sldId id="291" r:id="rId24"/>
    <p:sldId id="303" r:id="rId25"/>
    <p:sldId id="304" r:id="rId26"/>
    <p:sldId id="305" r:id="rId27"/>
    <p:sldId id="280" r:id="rId28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84AC"/>
    <a:srgbClr val="402A63"/>
    <a:srgbClr val="F4D9EB"/>
    <a:srgbClr val="7F54AD"/>
    <a:srgbClr val="FFD1DC"/>
    <a:srgbClr val="F6D3D2"/>
    <a:srgbClr val="FBEBEC"/>
    <a:srgbClr val="FFD700"/>
    <a:srgbClr val="FFA500"/>
    <a:srgbClr val="937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61" autoAdjust="0"/>
  </p:normalViewPr>
  <p:slideViewPr>
    <p:cSldViewPr>
      <p:cViewPr varScale="1">
        <p:scale>
          <a:sx n="106" d="100"/>
          <a:sy n="106" d="100"/>
        </p:scale>
        <p:origin x="778" y="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281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98929-783A-49E5-9A02-2A9EB2518727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1031F-C890-49E6-B904-0E96766EF1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8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1031F-C890-49E6-B904-0E96766EF1C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993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1031F-C890-49E6-B904-0E96766EF1C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964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1031F-C890-49E6-B904-0E96766EF1C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197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1031F-C890-49E6-B904-0E96766EF1C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926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1031F-C890-49E6-B904-0E96766EF1C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981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1031F-C890-49E6-B904-0E96766EF1C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3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1031F-C890-49E6-B904-0E96766EF1C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482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1031F-C890-49E6-B904-0E96766EF1C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43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4" name="Google Shape;208;p12"/>
          <p:cNvGrpSpPr/>
          <p:nvPr userDrawn="1"/>
        </p:nvGrpSpPr>
        <p:grpSpPr>
          <a:xfrm flipH="1">
            <a:off x="4716016" y="839062"/>
            <a:ext cx="4313925" cy="3465375"/>
            <a:chOff x="1645525" y="677625"/>
            <a:chExt cx="4313925" cy="3465375"/>
          </a:xfrm>
          <a:gradFill flip="none" rotWithShape="1">
            <a:gsLst>
              <a:gs pos="0">
                <a:srgbClr val="F6D3D2"/>
              </a:gs>
              <a:gs pos="100000">
                <a:srgbClr val="F4D9EB"/>
              </a:gs>
            </a:gsLst>
            <a:lin ang="2700000" scaled="1"/>
            <a:tileRect/>
          </a:gradFill>
        </p:grpSpPr>
        <p:sp>
          <p:nvSpPr>
            <p:cNvPr id="65" name="Google Shape;209;p12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10;p12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11;p12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12;p12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13;p12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14;p12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15;p12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16;p12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DDB"/>
              </a:clrFrom>
              <a:clrTo>
                <a:srgbClr val="FFFDDB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88" b="91019" l="2265" r="96197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881" y="648542"/>
            <a:ext cx="4212790" cy="4212790"/>
          </a:xfrm>
          <a:prstGeom prst="rect">
            <a:avLst/>
          </a:prstGeom>
          <a:ln>
            <a:noFill/>
          </a:ln>
        </p:spPr>
      </p:pic>
      <p:grpSp>
        <p:nvGrpSpPr>
          <p:cNvPr id="117" name="Google Shape;208;p12"/>
          <p:cNvGrpSpPr/>
          <p:nvPr userDrawn="1"/>
        </p:nvGrpSpPr>
        <p:grpSpPr>
          <a:xfrm flipH="1">
            <a:off x="-3378906" y="3148409"/>
            <a:ext cx="4313925" cy="3465375"/>
            <a:chOff x="1645525" y="677625"/>
            <a:chExt cx="4313925" cy="3465375"/>
          </a:xfrm>
          <a:gradFill flip="none" rotWithShape="1">
            <a:gsLst>
              <a:gs pos="0">
                <a:srgbClr val="F6D3D2"/>
              </a:gs>
              <a:gs pos="100000">
                <a:srgbClr val="F4D9EB">
                  <a:alpha val="90000"/>
                </a:srgbClr>
              </a:gs>
            </a:gsLst>
            <a:lin ang="16200000" scaled="1"/>
            <a:tileRect/>
          </a:gradFill>
        </p:grpSpPr>
        <p:sp>
          <p:nvSpPr>
            <p:cNvPr id="119" name="Google Shape;209;p12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10;p12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11;p12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12;p12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13;p12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14;p12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15;p12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16;p12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199;p12"/>
          <p:cNvGrpSpPr/>
          <p:nvPr userDrawn="1"/>
        </p:nvGrpSpPr>
        <p:grpSpPr>
          <a:xfrm rot="-5400000" flipH="1">
            <a:off x="7172061" y="-2461899"/>
            <a:ext cx="4313925" cy="3465375"/>
            <a:chOff x="1645525" y="677625"/>
            <a:chExt cx="4313925" cy="3465375"/>
          </a:xfrm>
          <a:gradFill flip="none" rotWithShape="1">
            <a:gsLst>
              <a:gs pos="0">
                <a:srgbClr val="F6D3D2"/>
              </a:gs>
              <a:gs pos="100000">
                <a:srgbClr val="F4D9EB"/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146" name="Google Shape;200;p12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201;p12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02;p12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03;p12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04;p12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205;p12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206;p12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207;p12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720;p98"/>
          <p:cNvSpPr txBox="1">
            <a:spLocks/>
          </p:cNvSpPr>
          <p:nvPr userDrawn="1"/>
        </p:nvSpPr>
        <p:spPr>
          <a:xfrm>
            <a:off x="188126" y="1645112"/>
            <a:ext cx="4302426" cy="1694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ru-RU" sz="3400" dirty="0" smtClean="0">
                <a:solidFill>
                  <a:srgbClr val="402A63"/>
                </a:solidFill>
                <a:latin typeface="Hero Bold" pitchFamily="2" charset="-52"/>
              </a:rPr>
              <a:t>Логопедическая игра «</a:t>
            </a:r>
            <a:r>
              <a:rPr lang="en-US" sz="3400" dirty="0" smtClean="0">
                <a:solidFill>
                  <a:srgbClr val="402A63"/>
                </a:solidFill>
                <a:latin typeface="Hero Bold" pitchFamily="2" charset="-52"/>
              </a:rPr>
              <a:t>Speak-Smile</a:t>
            </a:r>
            <a:r>
              <a:rPr lang="ru-RU" sz="3400" dirty="0" smtClean="0">
                <a:solidFill>
                  <a:srgbClr val="402A63"/>
                </a:solidFill>
                <a:latin typeface="Hero Bold" pitchFamily="2" charset="-52"/>
              </a:rPr>
              <a:t>»</a:t>
            </a:r>
            <a:endParaRPr lang="en-US" sz="3400" dirty="0">
              <a:solidFill>
                <a:srgbClr val="402A63"/>
              </a:solidFill>
              <a:latin typeface="Hero Bold" pitchFamily="2" charset="-52"/>
            </a:endParaRPr>
          </a:p>
        </p:txBody>
      </p:sp>
      <p:sp>
        <p:nvSpPr>
          <p:cNvPr id="156" name="TextBox 155"/>
          <p:cNvSpPr txBox="1"/>
          <p:nvPr userDrawn="1"/>
        </p:nvSpPr>
        <p:spPr>
          <a:xfrm>
            <a:off x="194133" y="3031264"/>
            <a:ext cx="3018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00" smtClean="0">
                <a:solidFill>
                  <a:srgbClr val="9C84AC"/>
                </a:solidFill>
                <a:latin typeface="Hero Bold" pitchFamily="2" charset="-52"/>
              </a:rPr>
              <a:t>Говори с улыбкой, речь улыбнётся сама</a:t>
            </a:r>
            <a:endParaRPr lang="ru-RU" sz="1100" dirty="0" smtClean="0">
              <a:solidFill>
                <a:srgbClr val="9C84AC"/>
              </a:solidFill>
              <a:latin typeface="Hero Bold" pitchFamily="2" charset="-52"/>
            </a:endParaRPr>
          </a:p>
        </p:txBody>
      </p:sp>
      <p:sp>
        <p:nvSpPr>
          <p:cNvPr id="157" name="TextBox 156"/>
          <p:cNvSpPr txBox="1"/>
          <p:nvPr userDrawn="1"/>
        </p:nvSpPr>
        <p:spPr>
          <a:xfrm>
            <a:off x="107504" y="123478"/>
            <a:ext cx="1584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00" dirty="0" smtClean="0">
                <a:solidFill>
                  <a:srgbClr val="9C84AC"/>
                </a:solidFill>
                <a:latin typeface="Hero Bold" pitchFamily="2" charset="-52"/>
              </a:rPr>
              <a:t>КВАНТОРИУМ</a:t>
            </a:r>
          </a:p>
          <a:p>
            <a:pPr algn="l"/>
            <a:r>
              <a:rPr lang="ru-RU" sz="1100" dirty="0" smtClean="0">
                <a:solidFill>
                  <a:srgbClr val="9C84AC"/>
                </a:solidFill>
                <a:latin typeface="Hero Bold" pitchFamily="2" charset="-52"/>
              </a:rPr>
              <a:t>Детский Технопарк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208;p12"/>
          <p:cNvGrpSpPr/>
          <p:nvPr userDrawn="1"/>
        </p:nvGrpSpPr>
        <p:grpSpPr>
          <a:xfrm flipH="1">
            <a:off x="-3378906" y="3148409"/>
            <a:ext cx="4313925" cy="3465375"/>
            <a:chOff x="1645525" y="677625"/>
            <a:chExt cx="4313925" cy="3465375"/>
          </a:xfrm>
          <a:gradFill flip="none" rotWithShape="1">
            <a:gsLst>
              <a:gs pos="0">
                <a:srgbClr val="F6D3D2"/>
              </a:gs>
              <a:gs pos="100000">
                <a:srgbClr val="F4D9EB">
                  <a:alpha val="90000"/>
                </a:srgbClr>
              </a:gs>
            </a:gsLst>
            <a:lin ang="16200000" scaled="1"/>
            <a:tileRect/>
          </a:gradFill>
        </p:grpSpPr>
        <p:sp>
          <p:nvSpPr>
            <p:cNvPr id="63" name="Google Shape;209;p12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10;p12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11;p12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12;p12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13;p12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14;p12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15;p12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16;p12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199;p12"/>
          <p:cNvGrpSpPr/>
          <p:nvPr userDrawn="1"/>
        </p:nvGrpSpPr>
        <p:grpSpPr>
          <a:xfrm rot="-5400000" flipH="1">
            <a:off x="7172061" y="-2461899"/>
            <a:ext cx="4313925" cy="3465375"/>
            <a:chOff x="1645525" y="677625"/>
            <a:chExt cx="4313925" cy="3465375"/>
          </a:xfrm>
          <a:gradFill flip="none" rotWithShape="1">
            <a:gsLst>
              <a:gs pos="0">
                <a:srgbClr val="F6D3D2"/>
              </a:gs>
              <a:gs pos="100000">
                <a:srgbClr val="F4D9EB"/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72" name="Google Shape;200;p12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01;p12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02;p12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03;p12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04;p12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05;p12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06;p12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07;p12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" name="Google Shape;1720;p98"/>
          <p:cNvSpPr txBox="1">
            <a:spLocks/>
          </p:cNvSpPr>
          <p:nvPr userDrawn="1"/>
        </p:nvSpPr>
        <p:spPr>
          <a:xfrm rot="16200000">
            <a:off x="556689" y="2495435"/>
            <a:ext cx="8272306" cy="626469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prstTxWarp prst="textCircl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ru-RU" sz="4800" dirty="0" smtClean="0">
                <a:solidFill>
                  <a:srgbClr val="402A63"/>
                </a:solidFill>
                <a:latin typeface="Hero Bold" pitchFamily="2" charset="-52"/>
              </a:rPr>
              <a:t>СПАСИБО ЗА ВНИМАНИЕ!</a:t>
            </a:r>
            <a:endParaRPr lang="en-US" sz="4800" dirty="0">
              <a:solidFill>
                <a:srgbClr val="402A63"/>
              </a:solidFill>
              <a:latin typeface="Hero Bold" pitchFamily="2" charset="-52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870" b="99892" l="4221" r="99026">
                        <a14:foregroundMark x1="52489" y1="13853" x2="52597" y2="23377"/>
                        <a14:foregroundMark x1="54978" y1="99351" x2="54978" y2="99351"/>
                        <a14:backgroundMark x1="73160" y1="54329" x2="73160" y2="63095"/>
                        <a14:backgroundMark x1="25108" y1="57792" x2="24567" y2="70996"/>
                        <a14:backgroundMark x1="27814" y1="57576" x2="22186" y2="38961"/>
                        <a14:backgroundMark x1="16558" y1="19156" x2="17424" y2="27165"/>
                        <a14:backgroundMark x1="37662" y1="19372" x2="37121" y2="22511"/>
                        <a14:backgroundMark x1="44697" y1="24784" x2="48810" y2="30195"/>
                        <a14:backgroundMark x1="59957" y1="19481" x2="64069" y2="31277"/>
                        <a14:backgroundMark x1="85390" y1="28680" x2="86147" y2="35714"/>
                        <a14:backgroundMark x1="76407" y1="40043" x2="72944" y2="47294"/>
                        <a14:backgroundMark x1="69048" y1="47294" x2="70022" y2="54978"/>
                        <a14:backgroundMark x1="77165" y1="57143" x2="76948" y2="68831"/>
                        <a14:backgroundMark x1="87013" y1="72727" x2="86255" y2="79437"/>
                        <a14:backgroundMark x1="13636" y1="71537" x2="14177" y2="76948"/>
                        <a14:backgroundMark x1="32684" y1="28788" x2="29004" y2="28463"/>
                      </a14:backgroundRemoval>
                    </a14:imgEffect>
                    <a14:imgEffect>
                      <a14:saturation sat="20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486" y="598558"/>
            <a:ext cx="4551028" cy="455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64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43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DC">
              <a:alpha val="10000"/>
            </a:srgb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4" name="Google Shape;241;p13"/>
          <p:cNvGrpSpPr/>
          <p:nvPr userDrawn="1"/>
        </p:nvGrpSpPr>
        <p:grpSpPr>
          <a:xfrm rot="-9670140">
            <a:off x="1041688" y="-1055082"/>
            <a:ext cx="6670468" cy="4313030"/>
            <a:chOff x="1645525" y="677625"/>
            <a:chExt cx="4313925" cy="3465375"/>
          </a:xfrm>
          <a:gradFill flip="none" rotWithShape="1">
            <a:gsLst>
              <a:gs pos="100000">
                <a:srgbClr val="F4D9EB">
                  <a:alpha val="25000"/>
                </a:srgbClr>
              </a:gs>
              <a:gs pos="0">
                <a:srgbClr val="F6D3D2">
                  <a:alpha val="25000"/>
                </a:srgbClr>
              </a:gs>
            </a:gsLst>
            <a:lin ang="16200000" scaled="1"/>
            <a:tileRect/>
          </a:gradFill>
        </p:grpSpPr>
        <p:sp>
          <p:nvSpPr>
            <p:cNvPr id="35" name="Google Shape;242;p13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3;p13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4;p13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5;p13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6;p13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7;p13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8;p13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9;p13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3102794"/>
            <a:ext cx="7772400" cy="648072"/>
          </a:xfrm>
        </p:spPr>
        <p:txBody>
          <a:bodyPr anchor="t"/>
          <a:lstStyle>
            <a:lvl1pPr algn="l">
              <a:defRPr sz="2800" b="1" cap="all">
                <a:solidFill>
                  <a:srgbClr val="402A63"/>
                </a:solidFill>
                <a:latin typeface="Hero Bold" pitchFamily="2" charset="-52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7504" y="3822874"/>
            <a:ext cx="7772400" cy="1125140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9C84AC"/>
                </a:solidFill>
                <a:latin typeface="Hero" panose="00000500000000000000" pitchFamily="2" charset="-5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07504" y="123478"/>
            <a:ext cx="1584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00" dirty="0" smtClean="0">
                <a:solidFill>
                  <a:srgbClr val="9C84AC"/>
                </a:solidFill>
                <a:latin typeface="Hero Bold" pitchFamily="2" charset="-52"/>
              </a:rPr>
              <a:t>КВАНТОРИУМ</a:t>
            </a:r>
          </a:p>
          <a:p>
            <a:pPr algn="l"/>
            <a:r>
              <a:rPr lang="ru-RU" sz="1100" dirty="0" smtClean="0">
                <a:solidFill>
                  <a:srgbClr val="9C84AC"/>
                </a:solidFill>
                <a:latin typeface="Hero Bold" pitchFamily="2" charset="-52"/>
              </a:rPr>
              <a:t>Детский Технопарк</a:t>
            </a:r>
          </a:p>
        </p:txBody>
      </p:sp>
      <p:grpSp>
        <p:nvGrpSpPr>
          <p:cNvPr id="61" name="Google Shape;155;p9"/>
          <p:cNvGrpSpPr/>
          <p:nvPr userDrawn="1"/>
        </p:nvGrpSpPr>
        <p:grpSpPr>
          <a:xfrm rot="10362564">
            <a:off x="-1605518" y="159743"/>
            <a:ext cx="3589395" cy="1950045"/>
            <a:chOff x="1939700" y="704650"/>
            <a:chExt cx="3589450" cy="1950075"/>
          </a:xfrm>
        </p:grpSpPr>
        <p:sp>
          <p:nvSpPr>
            <p:cNvPr id="63" name="Google Shape;157;p9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58;p9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59;p9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60;p9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61;p9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62;p9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63;p9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208;p12"/>
          <p:cNvGrpSpPr/>
          <p:nvPr userDrawn="1"/>
        </p:nvGrpSpPr>
        <p:grpSpPr>
          <a:xfrm flipH="1">
            <a:off x="-3378906" y="3148409"/>
            <a:ext cx="4313925" cy="3465375"/>
            <a:chOff x="1645525" y="677625"/>
            <a:chExt cx="4313925" cy="3465375"/>
          </a:xfrm>
          <a:gradFill flip="none" rotWithShape="1">
            <a:gsLst>
              <a:gs pos="0">
                <a:srgbClr val="F6D3D2"/>
              </a:gs>
              <a:gs pos="100000">
                <a:srgbClr val="F4D9EB">
                  <a:alpha val="90000"/>
                </a:srgbClr>
              </a:gs>
            </a:gsLst>
            <a:lin ang="16200000" scaled="1"/>
            <a:tileRect/>
          </a:gradFill>
        </p:grpSpPr>
        <p:sp>
          <p:nvSpPr>
            <p:cNvPr id="46" name="Google Shape;209;p12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0;p12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1;p12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2;p12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3;p12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4;p12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15;p12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16;p12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199;p12"/>
          <p:cNvGrpSpPr/>
          <p:nvPr userDrawn="1"/>
        </p:nvGrpSpPr>
        <p:grpSpPr>
          <a:xfrm rot="-5400000" flipH="1">
            <a:off x="7172061" y="-2461899"/>
            <a:ext cx="4313925" cy="3465375"/>
            <a:chOff x="1645525" y="677625"/>
            <a:chExt cx="4313925" cy="3465375"/>
          </a:xfrm>
          <a:gradFill flip="none" rotWithShape="1">
            <a:gsLst>
              <a:gs pos="0">
                <a:srgbClr val="F6D3D2"/>
              </a:gs>
              <a:gs pos="100000">
                <a:srgbClr val="F4D9EB"/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55" name="Google Shape;200;p12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01;p12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02;p12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03;p12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04;p12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05;p12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06;p12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07;p12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Прямоугольник 70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38100" cmpd="sng">
            <a:solidFill>
              <a:srgbClr val="7F5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43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DC">
              <a:alpha val="10000"/>
            </a:srgb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9868" y="4273348"/>
            <a:ext cx="7772400" cy="648072"/>
          </a:xfrm>
        </p:spPr>
        <p:txBody>
          <a:bodyPr anchor="t"/>
          <a:lstStyle>
            <a:lvl1pPr algn="ctr">
              <a:defRPr sz="2800" b="1" cap="all">
                <a:solidFill>
                  <a:srgbClr val="402A63"/>
                </a:solidFill>
                <a:latin typeface="Hero Bold" pitchFamily="2" charset="-52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07504" y="123478"/>
            <a:ext cx="1584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00" dirty="0" smtClean="0">
                <a:solidFill>
                  <a:srgbClr val="9C84AC"/>
                </a:solidFill>
                <a:latin typeface="Hero Bold" pitchFamily="2" charset="-52"/>
              </a:rPr>
              <a:t>КВАНТОРИУМ</a:t>
            </a:r>
          </a:p>
          <a:p>
            <a:pPr algn="l"/>
            <a:r>
              <a:rPr lang="ru-RU" sz="1100" dirty="0" smtClean="0">
                <a:solidFill>
                  <a:srgbClr val="9C84AC"/>
                </a:solidFill>
                <a:latin typeface="Hero Bold" pitchFamily="2" charset="-52"/>
              </a:rPr>
              <a:t>Детский Технопарк</a:t>
            </a:r>
          </a:p>
        </p:txBody>
      </p:sp>
      <p:grpSp>
        <p:nvGrpSpPr>
          <p:cNvPr id="61" name="Google Shape;155;p9"/>
          <p:cNvGrpSpPr/>
          <p:nvPr userDrawn="1"/>
        </p:nvGrpSpPr>
        <p:grpSpPr>
          <a:xfrm rot="10362564">
            <a:off x="-1605518" y="159743"/>
            <a:ext cx="3589395" cy="1950045"/>
            <a:chOff x="1939700" y="704650"/>
            <a:chExt cx="3589450" cy="1950075"/>
          </a:xfrm>
        </p:grpSpPr>
        <p:sp>
          <p:nvSpPr>
            <p:cNvPr id="63" name="Google Shape;157;p9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58;p9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59;p9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60;p9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61;p9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62;p9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63;p9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solidFill>
              <a:srgbClr val="FFFFFF">
                <a:alpha val="9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208;p12"/>
          <p:cNvGrpSpPr/>
          <p:nvPr userDrawn="1"/>
        </p:nvGrpSpPr>
        <p:grpSpPr>
          <a:xfrm flipH="1">
            <a:off x="-3378906" y="3148409"/>
            <a:ext cx="4313925" cy="3465375"/>
            <a:chOff x="1645525" y="677625"/>
            <a:chExt cx="4313925" cy="3465375"/>
          </a:xfrm>
          <a:gradFill flip="none" rotWithShape="1">
            <a:gsLst>
              <a:gs pos="0">
                <a:srgbClr val="F6D3D2"/>
              </a:gs>
              <a:gs pos="100000">
                <a:srgbClr val="F4D9EB">
                  <a:alpha val="90000"/>
                </a:srgbClr>
              </a:gs>
            </a:gsLst>
            <a:lin ang="16200000" scaled="1"/>
            <a:tileRect/>
          </a:gradFill>
        </p:grpSpPr>
        <p:sp>
          <p:nvSpPr>
            <p:cNvPr id="46" name="Google Shape;209;p12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0;p12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1;p12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2;p12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3;p12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4;p12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15;p12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16;p12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199;p12"/>
          <p:cNvGrpSpPr/>
          <p:nvPr userDrawn="1"/>
        </p:nvGrpSpPr>
        <p:grpSpPr>
          <a:xfrm rot="-5400000" flipH="1">
            <a:off x="7172061" y="-2461899"/>
            <a:ext cx="4313925" cy="3465375"/>
            <a:chOff x="1645525" y="677625"/>
            <a:chExt cx="4313925" cy="3465375"/>
          </a:xfrm>
          <a:gradFill flip="none" rotWithShape="1">
            <a:gsLst>
              <a:gs pos="0">
                <a:srgbClr val="F6D3D2"/>
              </a:gs>
              <a:gs pos="100000">
                <a:srgbClr val="F4D9EB"/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55" name="Google Shape;200;p12"/>
            <p:cNvSpPr/>
            <p:nvPr/>
          </p:nvSpPr>
          <p:spPr>
            <a:xfrm>
              <a:off x="1645525" y="677625"/>
              <a:ext cx="4313925" cy="3465375"/>
            </a:xfrm>
            <a:custGeom>
              <a:avLst/>
              <a:gdLst/>
              <a:ahLst/>
              <a:cxnLst/>
              <a:rect l="l" t="t" r="r" b="b"/>
              <a:pathLst>
                <a:path w="172557" h="138615" extrusionOk="0">
                  <a:moveTo>
                    <a:pt x="103175" y="1"/>
                  </a:moveTo>
                  <a:cubicBezTo>
                    <a:pt x="89799" y="1"/>
                    <a:pt x="76948" y="6394"/>
                    <a:pt x="66481" y="14843"/>
                  </a:cubicBezTo>
                  <a:cubicBezTo>
                    <a:pt x="60278" y="19854"/>
                    <a:pt x="53572" y="26012"/>
                    <a:pt x="45850" y="26012"/>
                  </a:cubicBezTo>
                  <a:cubicBezTo>
                    <a:pt x="45141" y="26012"/>
                    <a:pt x="44424" y="25960"/>
                    <a:pt x="43698" y="25851"/>
                  </a:cubicBezTo>
                  <a:cubicBezTo>
                    <a:pt x="41930" y="25584"/>
                    <a:pt x="40162" y="24950"/>
                    <a:pt x="38361" y="24950"/>
                  </a:cubicBezTo>
                  <a:cubicBezTo>
                    <a:pt x="38330" y="24950"/>
                    <a:pt x="38300" y="24950"/>
                    <a:pt x="38270" y="24950"/>
                  </a:cubicBezTo>
                  <a:cubicBezTo>
                    <a:pt x="32349" y="24950"/>
                    <a:pt x="28384" y="31418"/>
                    <a:pt x="27720" y="37293"/>
                  </a:cubicBezTo>
                  <a:cubicBezTo>
                    <a:pt x="27053" y="43230"/>
                    <a:pt x="28454" y="49335"/>
                    <a:pt x="27219" y="55172"/>
                  </a:cubicBezTo>
                  <a:cubicBezTo>
                    <a:pt x="25785" y="62244"/>
                    <a:pt x="20515" y="68181"/>
                    <a:pt x="14010" y="71317"/>
                  </a:cubicBezTo>
                  <a:cubicBezTo>
                    <a:pt x="10241" y="73118"/>
                    <a:pt x="5838" y="74219"/>
                    <a:pt x="3269" y="77521"/>
                  </a:cubicBezTo>
                  <a:cubicBezTo>
                    <a:pt x="1668" y="79623"/>
                    <a:pt x="1034" y="82358"/>
                    <a:pt x="834" y="84993"/>
                  </a:cubicBezTo>
                  <a:cubicBezTo>
                    <a:pt x="0" y="95234"/>
                    <a:pt x="5004" y="105808"/>
                    <a:pt x="13476" y="111646"/>
                  </a:cubicBezTo>
                  <a:cubicBezTo>
                    <a:pt x="16545" y="113781"/>
                    <a:pt x="20081" y="115382"/>
                    <a:pt x="22449" y="118284"/>
                  </a:cubicBezTo>
                  <a:cubicBezTo>
                    <a:pt x="23817" y="119952"/>
                    <a:pt x="24684" y="121987"/>
                    <a:pt x="25752" y="123888"/>
                  </a:cubicBezTo>
                  <a:cubicBezTo>
                    <a:pt x="27586" y="127057"/>
                    <a:pt x="30055" y="129826"/>
                    <a:pt x="32990" y="132060"/>
                  </a:cubicBezTo>
                  <a:cubicBezTo>
                    <a:pt x="35525" y="133995"/>
                    <a:pt x="38427" y="135530"/>
                    <a:pt x="41463" y="136530"/>
                  </a:cubicBezTo>
                  <a:cubicBezTo>
                    <a:pt x="44332" y="137498"/>
                    <a:pt x="47801" y="137164"/>
                    <a:pt x="50536" y="138232"/>
                  </a:cubicBezTo>
                  <a:cubicBezTo>
                    <a:pt x="50919" y="138385"/>
                    <a:pt x="51289" y="138452"/>
                    <a:pt x="51649" y="138452"/>
                  </a:cubicBezTo>
                  <a:cubicBezTo>
                    <a:pt x="54267" y="138452"/>
                    <a:pt x="56388" y="134892"/>
                    <a:pt x="59643" y="134862"/>
                  </a:cubicBezTo>
                  <a:cubicBezTo>
                    <a:pt x="59665" y="134862"/>
                    <a:pt x="59686" y="134862"/>
                    <a:pt x="59708" y="134862"/>
                  </a:cubicBezTo>
                  <a:cubicBezTo>
                    <a:pt x="62860" y="134862"/>
                    <a:pt x="66977" y="136947"/>
                    <a:pt x="70272" y="136947"/>
                  </a:cubicBezTo>
                  <a:cubicBezTo>
                    <a:pt x="70703" y="136947"/>
                    <a:pt x="71119" y="136911"/>
                    <a:pt x="71518" y="136831"/>
                  </a:cubicBezTo>
                  <a:cubicBezTo>
                    <a:pt x="77131" y="135684"/>
                    <a:pt x="82660" y="135256"/>
                    <a:pt x="88166" y="135256"/>
                  </a:cubicBezTo>
                  <a:cubicBezTo>
                    <a:pt x="100756" y="135256"/>
                    <a:pt x="113225" y="137490"/>
                    <a:pt x="126290" y="138465"/>
                  </a:cubicBezTo>
                  <a:cubicBezTo>
                    <a:pt x="127349" y="138540"/>
                    <a:pt x="128429" y="138614"/>
                    <a:pt x="129504" y="138614"/>
                  </a:cubicBezTo>
                  <a:cubicBezTo>
                    <a:pt x="130833" y="138614"/>
                    <a:pt x="132156" y="138500"/>
                    <a:pt x="133429" y="138131"/>
                  </a:cubicBezTo>
                  <a:cubicBezTo>
                    <a:pt x="135330" y="137598"/>
                    <a:pt x="136998" y="136530"/>
                    <a:pt x="138666" y="135496"/>
                  </a:cubicBezTo>
                  <a:cubicBezTo>
                    <a:pt x="143469" y="132427"/>
                    <a:pt x="148306" y="129392"/>
                    <a:pt x="153109" y="126356"/>
                  </a:cubicBezTo>
                  <a:cubicBezTo>
                    <a:pt x="158980" y="122620"/>
                    <a:pt x="165018" y="118718"/>
                    <a:pt x="168620" y="112813"/>
                  </a:cubicBezTo>
                  <a:cubicBezTo>
                    <a:pt x="172223" y="106909"/>
                    <a:pt x="172557" y="98370"/>
                    <a:pt x="167420" y="93700"/>
                  </a:cubicBezTo>
                  <a:cubicBezTo>
                    <a:pt x="163884" y="90464"/>
                    <a:pt x="158713" y="89764"/>
                    <a:pt x="154677" y="87228"/>
                  </a:cubicBezTo>
                  <a:cubicBezTo>
                    <a:pt x="151141" y="84993"/>
                    <a:pt x="148573" y="81291"/>
                    <a:pt x="147705" y="77188"/>
                  </a:cubicBezTo>
                  <a:cubicBezTo>
                    <a:pt x="145704" y="67514"/>
                    <a:pt x="152976" y="57841"/>
                    <a:pt x="151375" y="48100"/>
                  </a:cubicBezTo>
                  <a:cubicBezTo>
                    <a:pt x="150974" y="45732"/>
                    <a:pt x="150007" y="43397"/>
                    <a:pt x="148273" y="41762"/>
                  </a:cubicBezTo>
                  <a:cubicBezTo>
                    <a:pt x="145776" y="39375"/>
                    <a:pt x="142330" y="38814"/>
                    <a:pt x="138776" y="38814"/>
                  </a:cubicBezTo>
                  <a:cubicBezTo>
                    <a:pt x="136917" y="38814"/>
                    <a:pt x="135027" y="38968"/>
                    <a:pt x="133228" y="39094"/>
                  </a:cubicBezTo>
                  <a:cubicBezTo>
                    <a:pt x="132574" y="39135"/>
                    <a:pt x="131902" y="39159"/>
                    <a:pt x="131224" y="39159"/>
                  </a:cubicBezTo>
                  <a:cubicBezTo>
                    <a:pt x="126434" y="39159"/>
                    <a:pt x="121288" y="37993"/>
                    <a:pt x="119419" y="33757"/>
                  </a:cubicBezTo>
                  <a:cubicBezTo>
                    <a:pt x="118618" y="31955"/>
                    <a:pt x="118618" y="29887"/>
                    <a:pt x="118885" y="27953"/>
                  </a:cubicBezTo>
                  <a:cubicBezTo>
                    <a:pt x="119719" y="21048"/>
                    <a:pt x="123321" y="13742"/>
                    <a:pt x="120186" y="7571"/>
                  </a:cubicBezTo>
                  <a:cubicBezTo>
                    <a:pt x="117551" y="2434"/>
                    <a:pt x="111246" y="400"/>
                    <a:pt x="105509" y="66"/>
                  </a:cubicBezTo>
                  <a:cubicBezTo>
                    <a:pt x="104729" y="22"/>
                    <a:pt x="103951" y="1"/>
                    <a:pt x="103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01;p12"/>
            <p:cNvSpPr/>
            <p:nvPr/>
          </p:nvSpPr>
          <p:spPr>
            <a:xfrm>
              <a:off x="2162550" y="1640675"/>
              <a:ext cx="104275" cy="503275"/>
            </a:xfrm>
            <a:custGeom>
              <a:avLst/>
              <a:gdLst/>
              <a:ahLst/>
              <a:cxnLst/>
              <a:rect l="l" t="t" r="r" b="b"/>
              <a:pathLst>
                <a:path w="4171" h="20131" extrusionOk="0">
                  <a:moveTo>
                    <a:pt x="2515" y="1"/>
                  </a:moveTo>
                  <a:cubicBezTo>
                    <a:pt x="2427" y="1"/>
                    <a:pt x="2334" y="23"/>
                    <a:pt x="2235" y="72"/>
                  </a:cubicBezTo>
                  <a:cubicBezTo>
                    <a:pt x="1101" y="605"/>
                    <a:pt x="1568" y="5509"/>
                    <a:pt x="1568" y="6476"/>
                  </a:cubicBezTo>
                  <a:cubicBezTo>
                    <a:pt x="1602" y="10179"/>
                    <a:pt x="1502" y="13715"/>
                    <a:pt x="367" y="17284"/>
                  </a:cubicBezTo>
                  <a:cubicBezTo>
                    <a:pt x="201" y="17851"/>
                    <a:pt x="0" y="18451"/>
                    <a:pt x="101" y="19052"/>
                  </a:cubicBezTo>
                  <a:cubicBezTo>
                    <a:pt x="193" y="19605"/>
                    <a:pt x="654" y="20131"/>
                    <a:pt x="1196" y="20131"/>
                  </a:cubicBezTo>
                  <a:cubicBezTo>
                    <a:pt x="1242" y="20131"/>
                    <a:pt x="1288" y="20127"/>
                    <a:pt x="1335" y="20119"/>
                  </a:cubicBezTo>
                  <a:cubicBezTo>
                    <a:pt x="1935" y="19986"/>
                    <a:pt x="2235" y="19319"/>
                    <a:pt x="2402" y="18752"/>
                  </a:cubicBezTo>
                  <a:cubicBezTo>
                    <a:pt x="3603" y="14916"/>
                    <a:pt x="4170" y="10913"/>
                    <a:pt x="4103" y="6910"/>
                  </a:cubicBezTo>
                  <a:cubicBezTo>
                    <a:pt x="4072" y="6061"/>
                    <a:pt x="3952" y="1"/>
                    <a:pt x="25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02;p12"/>
            <p:cNvSpPr/>
            <p:nvPr/>
          </p:nvSpPr>
          <p:spPr>
            <a:xfrm>
              <a:off x="1982425" y="2065450"/>
              <a:ext cx="124275" cy="122300"/>
            </a:xfrm>
            <a:custGeom>
              <a:avLst/>
              <a:gdLst/>
              <a:ahLst/>
              <a:cxnLst/>
              <a:rect l="l" t="t" r="r" b="b"/>
              <a:pathLst>
                <a:path w="4971" h="4892" extrusionOk="0">
                  <a:moveTo>
                    <a:pt x="3789" y="1"/>
                  </a:moveTo>
                  <a:cubicBezTo>
                    <a:pt x="3462" y="1"/>
                    <a:pt x="3155" y="151"/>
                    <a:pt x="3069" y="460"/>
                  </a:cubicBezTo>
                  <a:lnTo>
                    <a:pt x="2869" y="159"/>
                  </a:lnTo>
                  <a:cubicBezTo>
                    <a:pt x="2797" y="152"/>
                    <a:pt x="2725" y="149"/>
                    <a:pt x="2654" y="149"/>
                  </a:cubicBezTo>
                  <a:cubicBezTo>
                    <a:pt x="1694" y="149"/>
                    <a:pt x="773" y="760"/>
                    <a:pt x="401" y="1661"/>
                  </a:cubicBezTo>
                  <a:cubicBezTo>
                    <a:pt x="0" y="2595"/>
                    <a:pt x="301" y="3795"/>
                    <a:pt x="1101" y="4463"/>
                  </a:cubicBezTo>
                  <a:cubicBezTo>
                    <a:pt x="1423" y="4731"/>
                    <a:pt x="1854" y="4892"/>
                    <a:pt x="2271" y="4892"/>
                  </a:cubicBezTo>
                  <a:cubicBezTo>
                    <a:pt x="2372" y="4892"/>
                    <a:pt x="2471" y="4882"/>
                    <a:pt x="2569" y="4863"/>
                  </a:cubicBezTo>
                  <a:cubicBezTo>
                    <a:pt x="2969" y="4729"/>
                    <a:pt x="3303" y="4429"/>
                    <a:pt x="3570" y="4129"/>
                  </a:cubicBezTo>
                  <a:cubicBezTo>
                    <a:pt x="4037" y="3562"/>
                    <a:pt x="4403" y="2928"/>
                    <a:pt x="4670" y="2261"/>
                  </a:cubicBezTo>
                  <a:cubicBezTo>
                    <a:pt x="4870" y="1661"/>
                    <a:pt x="4971" y="927"/>
                    <a:pt x="4604" y="393"/>
                  </a:cubicBezTo>
                  <a:cubicBezTo>
                    <a:pt x="4426" y="134"/>
                    <a:pt x="4098" y="1"/>
                    <a:pt x="3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03;p12"/>
            <p:cNvSpPr/>
            <p:nvPr/>
          </p:nvSpPr>
          <p:spPr>
            <a:xfrm>
              <a:off x="1939700" y="2254450"/>
              <a:ext cx="182000" cy="152850"/>
            </a:xfrm>
            <a:custGeom>
              <a:avLst/>
              <a:gdLst/>
              <a:ahLst/>
              <a:cxnLst/>
              <a:rect l="l" t="t" r="r" b="b"/>
              <a:pathLst>
                <a:path w="7280" h="6114" extrusionOk="0">
                  <a:moveTo>
                    <a:pt x="6468" y="0"/>
                  </a:moveTo>
                  <a:cubicBezTo>
                    <a:pt x="6199" y="0"/>
                    <a:pt x="5956" y="153"/>
                    <a:pt x="5712" y="305"/>
                  </a:cubicBezTo>
                  <a:cubicBezTo>
                    <a:pt x="4545" y="1106"/>
                    <a:pt x="3377" y="1939"/>
                    <a:pt x="2210" y="2740"/>
                  </a:cubicBezTo>
                  <a:cubicBezTo>
                    <a:pt x="1709" y="3074"/>
                    <a:pt x="1209" y="3441"/>
                    <a:pt x="842" y="3908"/>
                  </a:cubicBezTo>
                  <a:cubicBezTo>
                    <a:pt x="1" y="5076"/>
                    <a:pt x="764" y="6114"/>
                    <a:pt x="1675" y="6114"/>
                  </a:cubicBezTo>
                  <a:cubicBezTo>
                    <a:pt x="2065" y="6114"/>
                    <a:pt x="2481" y="5925"/>
                    <a:pt x="2810" y="5475"/>
                  </a:cubicBezTo>
                  <a:cubicBezTo>
                    <a:pt x="3144" y="5042"/>
                    <a:pt x="3210" y="4441"/>
                    <a:pt x="3611" y="4108"/>
                  </a:cubicBezTo>
                  <a:cubicBezTo>
                    <a:pt x="4044" y="3707"/>
                    <a:pt x="4711" y="3741"/>
                    <a:pt x="5279" y="3607"/>
                  </a:cubicBezTo>
                  <a:cubicBezTo>
                    <a:pt x="6413" y="3374"/>
                    <a:pt x="7280" y="2273"/>
                    <a:pt x="7280" y="1106"/>
                  </a:cubicBezTo>
                  <a:cubicBezTo>
                    <a:pt x="7280" y="639"/>
                    <a:pt x="7013" y="71"/>
                    <a:pt x="6546" y="5"/>
                  </a:cubicBezTo>
                  <a:cubicBezTo>
                    <a:pt x="6520" y="2"/>
                    <a:pt x="6494" y="0"/>
                    <a:pt x="64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04;p12"/>
            <p:cNvSpPr/>
            <p:nvPr/>
          </p:nvSpPr>
          <p:spPr>
            <a:xfrm>
              <a:off x="4637250" y="704650"/>
              <a:ext cx="177225" cy="496650"/>
            </a:xfrm>
            <a:custGeom>
              <a:avLst/>
              <a:gdLst/>
              <a:ahLst/>
              <a:cxnLst/>
              <a:rect l="l" t="t" r="r" b="b"/>
              <a:pathLst>
                <a:path w="7089" h="19866" extrusionOk="0">
                  <a:moveTo>
                    <a:pt x="684" y="0"/>
                  </a:moveTo>
                  <a:cubicBezTo>
                    <a:pt x="208" y="0"/>
                    <a:pt x="0" y="382"/>
                    <a:pt x="317" y="1420"/>
                  </a:cubicBezTo>
                  <a:cubicBezTo>
                    <a:pt x="684" y="2554"/>
                    <a:pt x="2051" y="3555"/>
                    <a:pt x="2618" y="4589"/>
                  </a:cubicBezTo>
                  <a:cubicBezTo>
                    <a:pt x="3352" y="5890"/>
                    <a:pt x="3819" y="7291"/>
                    <a:pt x="4053" y="8725"/>
                  </a:cubicBezTo>
                  <a:cubicBezTo>
                    <a:pt x="4553" y="11727"/>
                    <a:pt x="4153" y="14796"/>
                    <a:pt x="3486" y="17732"/>
                  </a:cubicBezTo>
                  <a:cubicBezTo>
                    <a:pt x="3319" y="18366"/>
                    <a:pt x="3185" y="19199"/>
                    <a:pt x="3719" y="19633"/>
                  </a:cubicBezTo>
                  <a:cubicBezTo>
                    <a:pt x="3903" y="19796"/>
                    <a:pt x="4120" y="19866"/>
                    <a:pt x="4349" y="19866"/>
                  </a:cubicBezTo>
                  <a:cubicBezTo>
                    <a:pt x="4867" y="19866"/>
                    <a:pt x="5440" y="19506"/>
                    <a:pt x="5787" y="19066"/>
                  </a:cubicBezTo>
                  <a:cubicBezTo>
                    <a:pt x="6821" y="17765"/>
                    <a:pt x="6955" y="15997"/>
                    <a:pt x="7021" y="14363"/>
                  </a:cubicBezTo>
                  <a:cubicBezTo>
                    <a:pt x="7088" y="11561"/>
                    <a:pt x="6988" y="8725"/>
                    <a:pt x="6755" y="5923"/>
                  </a:cubicBezTo>
                  <a:cubicBezTo>
                    <a:pt x="6688" y="5323"/>
                    <a:pt x="6621" y="4722"/>
                    <a:pt x="6354" y="4222"/>
                  </a:cubicBezTo>
                  <a:cubicBezTo>
                    <a:pt x="6087" y="3655"/>
                    <a:pt x="5620" y="3188"/>
                    <a:pt x="5153" y="2788"/>
                  </a:cubicBezTo>
                  <a:cubicBezTo>
                    <a:pt x="4449" y="2154"/>
                    <a:pt x="1812" y="0"/>
                    <a:pt x="6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05;p12"/>
            <p:cNvSpPr/>
            <p:nvPr/>
          </p:nvSpPr>
          <p:spPr>
            <a:xfrm>
              <a:off x="4856975" y="949650"/>
              <a:ext cx="82575" cy="120400"/>
            </a:xfrm>
            <a:custGeom>
              <a:avLst/>
              <a:gdLst/>
              <a:ahLst/>
              <a:cxnLst/>
              <a:rect l="l" t="t" r="r" b="b"/>
              <a:pathLst>
                <a:path w="3303" h="4816" extrusionOk="0">
                  <a:moveTo>
                    <a:pt x="1826" y="0"/>
                  </a:moveTo>
                  <a:cubicBezTo>
                    <a:pt x="1751" y="0"/>
                    <a:pt x="1676" y="9"/>
                    <a:pt x="1602" y="26"/>
                  </a:cubicBezTo>
                  <a:cubicBezTo>
                    <a:pt x="1354" y="84"/>
                    <a:pt x="1152" y="269"/>
                    <a:pt x="1035" y="495"/>
                  </a:cubicBezTo>
                  <a:lnTo>
                    <a:pt x="1035" y="495"/>
                  </a:lnTo>
                  <a:lnTo>
                    <a:pt x="1034" y="493"/>
                  </a:lnTo>
                  <a:cubicBezTo>
                    <a:pt x="367" y="1160"/>
                    <a:pt x="0" y="2094"/>
                    <a:pt x="0" y="3028"/>
                  </a:cubicBezTo>
                  <a:cubicBezTo>
                    <a:pt x="0" y="3695"/>
                    <a:pt x="267" y="4463"/>
                    <a:pt x="901" y="4729"/>
                  </a:cubicBezTo>
                  <a:cubicBezTo>
                    <a:pt x="1044" y="4788"/>
                    <a:pt x="1196" y="4815"/>
                    <a:pt x="1349" y="4815"/>
                  </a:cubicBezTo>
                  <a:cubicBezTo>
                    <a:pt x="1801" y="4815"/>
                    <a:pt x="2261" y="4578"/>
                    <a:pt x="2536" y="4229"/>
                  </a:cubicBezTo>
                  <a:cubicBezTo>
                    <a:pt x="2936" y="3762"/>
                    <a:pt x="3103" y="3162"/>
                    <a:pt x="3203" y="2561"/>
                  </a:cubicBezTo>
                  <a:cubicBezTo>
                    <a:pt x="3303" y="1961"/>
                    <a:pt x="3303" y="1360"/>
                    <a:pt x="3036" y="827"/>
                  </a:cubicBezTo>
                  <a:cubicBezTo>
                    <a:pt x="2804" y="363"/>
                    <a:pt x="2321" y="0"/>
                    <a:pt x="18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06;p12"/>
            <p:cNvSpPr/>
            <p:nvPr/>
          </p:nvSpPr>
          <p:spPr>
            <a:xfrm>
              <a:off x="4857800" y="1136200"/>
              <a:ext cx="190175" cy="242625"/>
            </a:xfrm>
            <a:custGeom>
              <a:avLst/>
              <a:gdLst/>
              <a:ahLst/>
              <a:cxnLst/>
              <a:rect l="l" t="t" r="r" b="b"/>
              <a:pathLst>
                <a:path w="7607" h="9705" extrusionOk="0">
                  <a:moveTo>
                    <a:pt x="3799" y="1"/>
                  </a:moveTo>
                  <a:cubicBezTo>
                    <a:pt x="2936" y="1"/>
                    <a:pt x="2110" y="392"/>
                    <a:pt x="1468" y="937"/>
                  </a:cubicBezTo>
                  <a:cubicBezTo>
                    <a:pt x="868" y="1404"/>
                    <a:pt x="368" y="2071"/>
                    <a:pt x="334" y="2838"/>
                  </a:cubicBezTo>
                  <a:cubicBezTo>
                    <a:pt x="334" y="3672"/>
                    <a:pt x="901" y="4406"/>
                    <a:pt x="935" y="5206"/>
                  </a:cubicBezTo>
                  <a:cubicBezTo>
                    <a:pt x="968" y="5974"/>
                    <a:pt x="534" y="6674"/>
                    <a:pt x="301" y="7408"/>
                  </a:cubicBezTo>
                  <a:cubicBezTo>
                    <a:pt x="34" y="8109"/>
                    <a:pt x="1" y="9043"/>
                    <a:pt x="635" y="9510"/>
                  </a:cubicBezTo>
                  <a:cubicBezTo>
                    <a:pt x="827" y="9644"/>
                    <a:pt x="1047" y="9704"/>
                    <a:pt x="1274" y="9704"/>
                  </a:cubicBezTo>
                  <a:cubicBezTo>
                    <a:pt x="1832" y="9704"/>
                    <a:pt x="2428" y="9341"/>
                    <a:pt x="2736" y="8842"/>
                  </a:cubicBezTo>
                  <a:cubicBezTo>
                    <a:pt x="3170" y="8142"/>
                    <a:pt x="3203" y="7275"/>
                    <a:pt x="3336" y="6474"/>
                  </a:cubicBezTo>
                  <a:cubicBezTo>
                    <a:pt x="3470" y="5640"/>
                    <a:pt x="3803" y="4773"/>
                    <a:pt x="4504" y="4373"/>
                  </a:cubicBezTo>
                  <a:cubicBezTo>
                    <a:pt x="4971" y="4106"/>
                    <a:pt x="5571" y="4072"/>
                    <a:pt x="6005" y="3772"/>
                  </a:cubicBezTo>
                  <a:cubicBezTo>
                    <a:pt x="7606" y="2538"/>
                    <a:pt x="5238" y="69"/>
                    <a:pt x="3904" y="3"/>
                  </a:cubicBezTo>
                  <a:cubicBezTo>
                    <a:pt x="3868" y="1"/>
                    <a:pt x="3833" y="1"/>
                    <a:pt x="3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07;p12"/>
            <p:cNvSpPr/>
            <p:nvPr/>
          </p:nvSpPr>
          <p:spPr>
            <a:xfrm>
              <a:off x="5399025" y="2293875"/>
              <a:ext cx="130125" cy="360850"/>
            </a:xfrm>
            <a:custGeom>
              <a:avLst/>
              <a:gdLst/>
              <a:ahLst/>
              <a:cxnLst/>
              <a:rect l="l" t="t" r="r" b="b"/>
              <a:pathLst>
                <a:path w="5205" h="14434" extrusionOk="0">
                  <a:moveTo>
                    <a:pt x="3038" y="1"/>
                  </a:moveTo>
                  <a:cubicBezTo>
                    <a:pt x="2803" y="1"/>
                    <a:pt x="2506" y="113"/>
                    <a:pt x="2135" y="362"/>
                  </a:cubicBezTo>
                  <a:cubicBezTo>
                    <a:pt x="1168" y="1030"/>
                    <a:pt x="601" y="4199"/>
                    <a:pt x="401" y="5299"/>
                  </a:cubicBezTo>
                  <a:cubicBezTo>
                    <a:pt x="1" y="7468"/>
                    <a:pt x="134" y="9769"/>
                    <a:pt x="834" y="11904"/>
                  </a:cubicBezTo>
                  <a:cubicBezTo>
                    <a:pt x="1101" y="12638"/>
                    <a:pt x="1435" y="13405"/>
                    <a:pt x="2035" y="13905"/>
                  </a:cubicBezTo>
                  <a:cubicBezTo>
                    <a:pt x="2417" y="14223"/>
                    <a:pt x="2919" y="14433"/>
                    <a:pt x="3414" y="14433"/>
                  </a:cubicBezTo>
                  <a:cubicBezTo>
                    <a:pt x="3699" y="14433"/>
                    <a:pt x="3981" y="14364"/>
                    <a:pt x="4237" y="14206"/>
                  </a:cubicBezTo>
                  <a:cubicBezTo>
                    <a:pt x="5204" y="13639"/>
                    <a:pt x="5138" y="12171"/>
                    <a:pt x="4637" y="11170"/>
                  </a:cubicBezTo>
                  <a:cubicBezTo>
                    <a:pt x="4137" y="10136"/>
                    <a:pt x="3336" y="9269"/>
                    <a:pt x="3036" y="8168"/>
                  </a:cubicBezTo>
                  <a:cubicBezTo>
                    <a:pt x="2799" y="7307"/>
                    <a:pt x="4939" y="1"/>
                    <a:pt x="3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Прямоугольник 70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38100" cmpd="sng">
            <a:solidFill>
              <a:srgbClr val="7F54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2931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6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mail.ru/public/BrYa/KGQCWPL5N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planet.mblock.cc/project/5446454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63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DC">
              <a:alpha val="10000"/>
            </a:srgb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143126"/>
            <a:ext cx="9144000" cy="932680"/>
          </a:xfrm>
          <a:prstGeom prst="rect">
            <a:avLst/>
          </a:prstGeom>
          <a:solidFill>
            <a:srgbClr val="7F5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1"/>
          </a:xfrm>
        </p:spPr>
        <p:txBody>
          <a:bodyPr>
            <a:noAutofit/>
          </a:bodyPr>
          <a:lstStyle/>
          <a:p>
            <a:r>
              <a:rPr lang="ru-RU" sz="6000" b="1" cap="all" dirty="0" smtClean="0">
                <a:solidFill>
                  <a:schemeClr val="bg1"/>
                </a:solidFill>
                <a:latin typeface="Hero Bold" pitchFamily="2" charset="-52"/>
              </a:rPr>
              <a:t>Проблема</a:t>
            </a:r>
            <a:endParaRPr lang="ru-RU" sz="6000" b="1" cap="all" dirty="0">
              <a:solidFill>
                <a:schemeClr val="bg1"/>
              </a:solidFill>
              <a:latin typeface="Hero 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34159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3174802"/>
            <a:ext cx="8568952" cy="6480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проблема – дефект Речи у детей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3822874"/>
            <a:ext cx="8640960" cy="1125140"/>
          </a:xfrm>
        </p:spPr>
        <p:txBody>
          <a:bodyPr>
            <a:normAutofit/>
          </a:bodyPr>
          <a:lstStyle/>
          <a:p>
            <a:pPr algn="just"/>
            <a:r>
              <a:rPr lang="ru-RU" sz="1600" dirty="0"/>
              <a:t>Речевые дефекты у детей </a:t>
            </a:r>
            <a:r>
              <a:rPr lang="ru-RU" sz="1600" dirty="0" smtClean="0"/>
              <a:t>дошкольного и школьного возраста наблюдаются </a:t>
            </a:r>
            <a:r>
              <a:rPr lang="ru-RU" sz="1600" dirty="0"/>
              <a:t>всё </a:t>
            </a:r>
            <a:r>
              <a:rPr lang="ru-RU" sz="1600" dirty="0" smtClean="0"/>
              <a:t>чаще. Это </a:t>
            </a:r>
            <a:r>
              <a:rPr lang="ru-RU" sz="1600" dirty="0"/>
              <a:t>вызвано современными условиями жизни, цифровыми нагрузками и снижением живого общения</a:t>
            </a:r>
            <a:r>
              <a:rPr lang="ru-RU" sz="1600" dirty="0" smtClean="0"/>
              <a:t>. При этом родители ожидают постепенного и менее стрессового подхода к лечению, которое мотивирует </a:t>
            </a:r>
            <a:r>
              <a:rPr lang="ru-RU" sz="1600" dirty="0"/>
              <a:t>и не вызывает напряжения.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282" b="75243" l="5178" r="97816">
                        <a14:foregroundMark x1="20065" y1="44175" x2="20065" y2="44175"/>
                        <a14:foregroundMark x1="39725" y1="16019" x2="39725" y2="16019"/>
                        <a14:foregroundMark x1="41748" y1="11246" x2="41748" y2="11246"/>
                        <a14:foregroundMark x1="20955" y1="14644" x2="20955" y2="14644"/>
                        <a14:foregroundMark x1="24595" y1="17799" x2="49029" y2="18528"/>
                        <a14:foregroundMark x1="54045" y1="32039" x2="54045" y2="32039"/>
                        <a14:foregroundMark x1="56472" y1="34790" x2="56472" y2="34790"/>
                        <a14:foregroundMark x1="58819" y1="36489" x2="58819" y2="36489"/>
                        <a14:foregroundMark x1="58333" y1="35922" x2="58333" y2="35922"/>
                        <a14:foregroundMark x1="55340" y1="33738" x2="55340" y2="33738"/>
                        <a14:foregroundMark x1="57120" y1="35599" x2="57120" y2="35599"/>
                        <a14:foregroundMark x1="59547" y1="36893" x2="59547" y2="36893"/>
                        <a14:foregroundMark x1="60032" y1="37055" x2="60032" y2="37055"/>
                        <a14:foregroundMark x1="59061" y1="36570" x2="59061" y2="36570"/>
                        <a14:backgroundMark x1="28317" y1="51052" x2="28317" y2="51052"/>
                        <a14:backgroundMark x1="32282" y1="47816" x2="32282" y2="47816"/>
                        <a14:backgroundMark x1="64159" y1="40534" x2="64159" y2="40534"/>
                      </a14:backgroundRemoval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-101562"/>
            <a:ext cx="3600400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255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DC">
              <a:alpha val="10000"/>
            </a:srgb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143126"/>
            <a:ext cx="9144000" cy="932680"/>
          </a:xfrm>
          <a:prstGeom prst="rect">
            <a:avLst/>
          </a:prstGeom>
          <a:solidFill>
            <a:srgbClr val="7F5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1"/>
          </a:xfrm>
        </p:spPr>
        <p:txBody>
          <a:bodyPr>
            <a:noAutofit/>
          </a:bodyPr>
          <a:lstStyle/>
          <a:p>
            <a:r>
              <a:rPr lang="ru-RU" sz="6000" b="1" cap="all" dirty="0">
                <a:solidFill>
                  <a:schemeClr val="bg1"/>
                </a:solidFill>
                <a:latin typeface="Hero Bold" pitchFamily="2" charset="-52"/>
              </a:rPr>
              <a:t>ЦЕЛЬ</a:t>
            </a:r>
          </a:p>
        </p:txBody>
      </p:sp>
    </p:spTree>
    <p:extLst>
      <p:ext uri="{BB962C8B-B14F-4D97-AF65-F5344CB8AC3E}">
        <p14:creationId xmlns:p14="http://schemas.microsoft.com/office/powerpoint/2010/main" val="267128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3174802"/>
            <a:ext cx="7772400" cy="6480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ЦЕЛЬ ПРОЕКТА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3822874"/>
            <a:ext cx="8640960" cy="1125140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Главная цель проекта — разработать компьютерную игру </a:t>
            </a:r>
            <a:r>
              <a:rPr lang="ru-RU" sz="1800" dirty="0" smtClean="0"/>
              <a:t>«</a:t>
            </a:r>
            <a:r>
              <a:rPr lang="ru-RU" sz="1800" dirty="0" err="1" smtClean="0"/>
              <a:t>Speak-Smile</a:t>
            </a:r>
            <a:r>
              <a:rPr lang="ru-RU" sz="1800" dirty="0" smtClean="0"/>
              <a:t>», </a:t>
            </a:r>
            <a:r>
              <a:rPr lang="ru-RU" sz="1800" dirty="0"/>
              <a:t>которая станет надежным, игровым и дружелюбным инструментом для логопедов.</a:t>
            </a:r>
            <a:endParaRPr lang="ru-RU" sz="1800" dirty="0">
              <a:latin typeface="Hero" pitchFamily="2" charset="-52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08" b="98623" l="3929" r="96667">
                        <a14:foregroundMark x1="63214" y1="21625" x2="63214" y2="21625"/>
                        <a14:foregroundMark x1="56190" y1="21901" x2="47738" y2="24518"/>
                        <a14:foregroundMark x1="58690" y1="39945" x2="62262" y2="47934"/>
                        <a14:foregroundMark x1="35714" y1="56336" x2="45952" y2="64601"/>
                        <a14:foregroundMark x1="77500" y1="35262" x2="77500" y2="5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39502"/>
            <a:ext cx="2520280" cy="217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993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DC">
              <a:alpha val="10000"/>
            </a:srgb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143126"/>
            <a:ext cx="9144000" cy="932680"/>
          </a:xfrm>
          <a:prstGeom prst="rect">
            <a:avLst/>
          </a:prstGeom>
          <a:solidFill>
            <a:srgbClr val="7F5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1"/>
          </a:xfrm>
        </p:spPr>
        <p:txBody>
          <a:bodyPr>
            <a:noAutofit/>
          </a:bodyPr>
          <a:lstStyle/>
          <a:p>
            <a:r>
              <a:rPr lang="ru-RU" sz="6000" b="1" cap="all" dirty="0" smtClean="0">
                <a:solidFill>
                  <a:schemeClr val="bg1"/>
                </a:solidFill>
                <a:latin typeface="Hero Bold" pitchFamily="2" charset="-52"/>
              </a:rPr>
              <a:t>ЗАДАЧИ</a:t>
            </a:r>
            <a:endParaRPr lang="ru-RU" sz="6000" b="1" cap="all" dirty="0">
              <a:solidFill>
                <a:schemeClr val="bg1"/>
              </a:solidFill>
              <a:latin typeface="Hero 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0973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6094422" y="3203822"/>
            <a:ext cx="167690" cy="72008"/>
          </a:xfrm>
          <a:prstGeom prst="rect">
            <a:avLst/>
          </a:prstGeom>
          <a:solidFill>
            <a:srgbClr val="9C84AC"/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4401344" y="3203822"/>
            <a:ext cx="189384" cy="72008"/>
          </a:xfrm>
          <a:prstGeom prst="rect">
            <a:avLst/>
          </a:prstGeom>
          <a:solidFill>
            <a:srgbClr val="9C84AC"/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2699792" y="3203822"/>
            <a:ext cx="189384" cy="72008"/>
          </a:xfrm>
          <a:prstGeom prst="rect">
            <a:avLst/>
          </a:prstGeom>
          <a:solidFill>
            <a:srgbClr val="9C84AC"/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1131590"/>
            <a:ext cx="7772400" cy="6480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Задачи ПРОЕКТА</a:t>
            </a:r>
            <a:endParaRPr lang="ru-RU" sz="3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87624" y="2591754"/>
            <a:ext cx="1512168" cy="1224136"/>
          </a:xfrm>
          <a:prstGeom prst="rect">
            <a:avLst/>
          </a:prstGeom>
          <a:solidFill>
            <a:srgbClr val="F4D9EB">
              <a:alpha val="70000"/>
            </a:srgbClr>
          </a:solidFill>
          <a:ln>
            <a:solidFill>
              <a:srgbClr val="F4D9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115616" y="2604044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402A63"/>
                </a:solidFill>
                <a:latin typeface="Hero Bold" panose="00000800000000000000" pitchFamily="2" charset="-52"/>
              </a:rPr>
              <a:t>Планирование </a:t>
            </a:r>
            <a:br>
              <a:rPr lang="ru-RU" sz="1400" b="1" dirty="0" smtClean="0">
                <a:solidFill>
                  <a:srgbClr val="402A63"/>
                </a:solidFill>
                <a:latin typeface="Hero Bold" panose="00000800000000000000" pitchFamily="2" charset="-52"/>
              </a:rPr>
            </a:br>
            <a:r>
              <a:rPr lang="ru-RU" sz="1400" b="1" dirty="0" smtClean="0">
                <a:solidFill>
                  <a:srgbClr val="402A63"/>
                </a:solidFill>
                <a:latin typeface="Hero Bold" panose="00000800000000000000" pitchFamily="2" charset="-52"/>
              </a:rPr>
              <a:t>и концепт</a:t>
            </a:r>
            <a:endParaRPr lang="ru-RU" sz="1400" b="1" dirty="0">
              <a:solidFill>
                <a:srgbClr val="402A63"/>
              </a:solidFill>
              <a:latin typeface="Hero Bold" panose="00000800000000000000" pitchFamily="2" charset="-52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889176" y="2591754"/>
            <a:ext cx="1512168" cy="1224136"/>
          </a:xfrm>
          <a:prstGeom prst="rect">
            <a:avLst/>
          </a:prstGeom>
          <a:solidFill>
            <a:srgbClr val="F4D9EB">
              <a:alpha val="70000"/>
            </a:srgbClr>
          </a:solidFill>
          <a:ln>
            <a:solidFill>
              <a:srgbClr val="F4D9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2843808" y="2604044"/>
            <a:ext cx="1602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solidFill>
                  <a:srgbClr val="402A63"/>
                </a:solidFill>
                <a:latin typeface="Hero Bold" panose="00000800000000000000" pitchFamily="2" charset="-52"/>
              </a:rPr>
              <a:t>Контент </a:t>
            </a:r>
            <a:br>
              <a:rPr lang="ru-RU" sz="1400" b="1" dirty="0">
                <a:solidFill>
                  <a:srgbClr val="402A63"/>
                </a:solidFill>
                <a:latin typeface="Hero Bold" panose="00000800000000000000" pitchFamily="2" charset="-52"/>
              </a:rPr>
            </a:br>
            <a:r>
              <a:rPr lang="ru-RU" sz="1400" b="1" dirty="0">
                <a:solidFill>
                  <a:srgbClr val="402A63"/>
                </a:solidFill>
                <a:latin typeface="Hero Bold" panose="00000800000000000000" pitchFamily="2" charset="-52"/>
              </a:rPr>
              <a:t>и механики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590728" y="2591754"/>
            <a:ext cx="1512168" cy="1224136"/>
          </a:xfrm>
          <a:prstGeom prst="rect">
            <a:avLst/>
          </a:prstGeom>
          <a:solidFill>
            <a:srgbClr val="F4D9EB">
              <a:alpha val="70000"/>
            </a:srgbClr>
          </a:solidFill>
          <a:ln>
            <a:solidFill>
              <a:srgbClr val="F4D9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518720" y="2592751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solidFill>
                  <a:srgbClr val="402A63"/>
                </a:solidFill>
                <a:latin typeface="Hero Bold" panose="00000800000000000000" pitchFamily="2" charset="-52"/>
              </a:rPr>
              <a:t>Тестирование </a:t>
            </a:r>
            <a:br>
              <a:rPr lang="ru-RU" sz="1400" b="1" dirty="0">
                <a:solidFill>
                  <a:srgbClr val="402A63"/>
                </a:solidFill>
                <a:latin typeface="Hero Bold" panose="00000800000000000000" pitchFamily="2" charset="-52"/>
              </a:rPr>
            </a:br>
            <a:r>
              <a:rPr lang="ru-RU" sz="1400" b="1" dirty="0">
                <a:solidFill>
                  <a:srgbClr val="402A63"/>
                </a:solidFill>
                <a:latin typeface="Hero Bold" panose="00000800000000000000" pitchFamily="2" charset="-52"/>
              </a:rPr>
              <a:t>и оптимизация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6249596" y="2591754"/>
            <a:ext cx="1512168" cy="1224136"/>
          </a:xfrm>
          <a:prstGeom prst="rect">
            <a:avLst/>
          </a:prstGeom>
          <a:solidFill>
            <a:srgbClr val="F4D9EB">
              <a:alpha val="70000"/>
            </a:srgbClr>
          </a:solidFill>
          <a:ln>
            <a:solidFill>
              <a:srgbClr val="F4D9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6174904" y="2604044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solidFill>
                  <a:srgbClr val="402A63"/>
                </a:solidFill>
                <a:latin typeface="Hero Bold" panose="00000800000000000000" pitchFamily="2" charset="-52"/>
              </a:rPr>
              <a:t>Выпуск </a:t>
            </a:r>
            <a:br>
              <a:rPr lang="ru-RU" sz="1400" b="1" dirty="0">
                <a:solidFill>
                  <a:srgbClr val="402A63"/>
                </a:solidFill>
                <a:latin typeface="Hero Bold" panose="00000800000000000000" pitchFamily="2" charset="-52"/>
              </a:rPr>
            </a:br>
            <a:r>
              <a:rPr lang="ru-RU" sz="1400" b="1" dirty="0">
                <a:solidFill>
                  <a:srgbClr val="402A63"/>
                </a:solidFill>
                <a:latin typeface="Hero Bold" panose="00000800000000000000" pitchFamily="2" charset="-52"/>
              </a:rPr>
              <a:t>и продвижение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7624" y="2006979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402A63"/>
                </a:solidFill>
                <a:latin typeface="Hero Bold" panose="00000800000000000000" pitchFamily="2" charset="-52"/>
              </a:rPr>
              <a:t>1</a:t>
            </a:r>
            <a:endParaRPr lang="ru-RU" sz="3200" b="1" dirty="0">
              <a:solidFill>
                <a:srgbClr val="402A63"/>
              </a:solidFill>
              <a:latin typeface="Hero Bold" panose="00000800000000000000" pitchFamily="2" charset="-5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89176" y="2000834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3200" b="1">
                <a:solidFill>
                  <a:srgbClr val="402A63"/>
                </a:solidFill>
                <a:latin typeface="Hero Bold" panose="00000800000000000000" pitchFamily="2" charset="-52"/>
              </a:defRPr>
            </a:lvl1pPr>
          </a:lstStyle>
          <a:p>
            <a:r>
              <a:rPr lang="ru-RU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728" y="1995686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402A63"/>
                </a:solidFill>
                <a:latin typeface="Hero Bold" panose="00000800000000000000" pitchFamily="2" charset="-52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2112" y="1995685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402A63"/>
                </a:solidFill>
                <a:latin typeface="Hero Bold" panose="00000800000000000000" pitchFamily="2" charset="-52"/>
              </a:rPr>
              <a:t>4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1259632" y="3075279"/>
            <a:ext cx="1394068" cy="396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20000"/>
              </a:spcBef>
              <a:buFont typeface="Arial" pitchFamily="34" charset="0"/>
              <a:buNone/>
            </a:pPr>
            <a:endParaRPr lang="ru-RU" sz="900" dirty="0">
              <a:solidFill>
                <a:srgbClr val="9C84AC"/>
              </a:solidFill>
              <a:latin typeface="Hero" panose="00000500000000000000" pitchFamily="2" charset="-52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2899872" y="3127264"/>
            <a:ext cx="1512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rgbClr val="9C84AC"/>
                </a:solidFill>
                <a:latin typeface="Hero" panose="00000500000000000000" pitchFamily="2" charset="-52"/>
              </a:rPr>
              <a:t>Составляем словарь, уровни и механики: от звуков до фраз, с аудио, </a:t>
            </a:r>
            <a:r>
              <a:rPr lang="ru-RU" sz="800" dirty="0" err="1">
                <a:solidFill>
                  <a:srgbClr val="9C84AC"/>
                </a:solidFill>
                <a:latin typeface="Hero" panose="00000500000000000000" pitchFamily="2" charset="-52"/>
              </a:rPr>
              <a:t>визуалом</a:t>
            </a:r>
            <a:r>
              <a:rPr lang="ru-RU" sz="800" dirty="0">
                <a:solidFill>
                  <a:srgbClr val="9C84AC"/>
                </a:solidFill>
                <a:latin typeface="Hero" panose="00000500000000000000" pitchFamily="2" charset="-52"/>
              </a:rPr>
              <a:t> и </a:t>
            </a:r>
            <a:r>
              <a:rPr lang="ru-RU" sz="800" dirty="0" smtClean="0">
                <a:solidFill>
                  <a:srgbClr val="9C84AC"/>
                </a:solidFill>
                <a:latin typeface="Hero" panose="00000500000000000000" pitchFamily="2" charset="-52"/>
              </a:rPr>
              <a:t>подсказками</a:t>
            </a:r>
            <a:endParaRPr lang="ru-RU" sz="800" dirty="0">
              <a:solidFill>
                <a:srgbClr val="9C84AC"/>
              </a:solidFill>
              <a:latin typeface="Hero" panose="00000500000000000000" pitchFamily="2" charset="-52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4585792" y="3127263"/>
            <a:ext cx="15228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rgbClr val="9C84AC"/>
                </a:solidFill>
                <a:latin typeface="Hero" panose="00000500000000000000" pitchFamily="2" charset="-52"/>
              </a:rPr>
              <a:t>Создаём </a:t>
            </a:r>
            <a:r>
              <a:rPr lang="ru-RU" sz="800" dirty="0" smtClean="0">
                <a:solidFill>
                  <a:srgbClr val="9C84AC"/>
                </a:solidFill>
                <a:latin typeface="Hero" panose="00000500000000000000" pitchFamily="2" charset="-52"/>
              </a:rPr>
              <a:t>прототип</a:t>
            </a:r>
            <a:r>
              <a:rPr lang="ru-RU" sz="800" dirty="0">
                <a:solidFill>
                  <a:srgbClr val="9C84AC"/>
                </a:solidFill>
                <a:latin typeface="Hero" panose="00000500000000000000" pitchFamily="2" charset="-52"/>
              </a:rPr>
              <a:t>, </a:t>
            </a:r>
            <a:r>
              <a:rPr lang="ru-RU" sz="800" dirty="0" smtClean="0">
                <a:solidFill>
                  <a:srgbClr val="9C84AC"/>
                </a:solidFill>
                <a:latin typeface="Hero" panose="00000500000000000000" pitchFamily="2" charset="-52"/>
              </a:rPr>
              <a:t>тестируем </a:t>
            </a:r>
            <a:r>
              <a:rPr lang="ru-RU" sz="800" dirty="0">
                <a:solidFill>
                  <a:srgbClr val="9C84AC"/>
                </a:solidFill>
                <a:latin typeface="Hero" panose="00000500000000000000" pitchFamily="2" charset="-52"/>
              </a:rPr>
              <a:t>с логопедами и детьми, корректируем на основе обратной </a:t>
            </a:r>
            <a:r>
              <a:rPr lang="ru-RU" sz="800" dirty="0" smtClean="0">
                <a:solidFill>
                  <a:srgbClr val="9C84AC"/>
                </a:solidFill>
                <a:latin typeface="Hero" panose="00000500000000000000" pitchFamily="2" charset="-52"/>
              </a:rPr>
              <a:t>связи</a:t>
            </a:r>
            <a:endParaRPr lang="ru-RU" sz="800" dirty="0">
              <a:solidFill>
                <a:srgbClr val="9C84AC"/>
              </a:solidFill>
              <a:latin typeface="Hero" panose="00000500000000000000" pitchFamily="2" charset="-52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6249597" y="3129086"/>
            <a:ext cx="15246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rgbClr val="9C84AC"/>
                </a:solidFill>
                <a:latin typeface="Hero" panose="00000500000000000000" pitchFamily="2" charset="-52"/>
              </a:rPr>
              <a:t>Выпускаем игру для логопедов и </a:t>
            </a:r>
            <a:r>
              <a:rPr lang="ru-RU" sz="800" dirty="0" smtClean="0">
                <a:solidFill>
                  <a:srgbClr val="9C84AC"/>
                </a:solidFill>
                <a:latin typeface="Hero" panose="00000500000000000000" pitchFamily="2" charset="-52"/>
              </a:rPr>
              <a:t>родителей, а также поддерживаем проект обновлениями</a:t>
            </a:r>
            <a:endParaRPr lang="ru-RU" sz="800" dirty="0">
              <a:solidFill>
                <a:srgbClr val="9C84AC"/>
              </a:solidFill>
              <a:latin typeface="Hero" panose="00000500000000000000" pitchFamily="2" charset="-52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175460" y="3133090"/>
            <a:ext cx="1536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solidFill>
                  <a:srgbClr val="9C84AC"/>
                </a:solidFill>
                <a:latin typeface="Hero" panose="00000500000000000000" pitchFamily="2" charset="-52"/>
              </a:rPr>
              <a:t>Разрабатываем игровой концепт </a:t>
            </a:r>
            <a:r>
              <a:rPr lang="ru-RU" sz="800" dirty="0" smtClean="0">
                <a:solidFill>
                  <a:srgbClr val="9C84AC"/>
                </a:solidFill>
                <a:latin typeface="Hero" panose="00000500000000000000" pitchFamily="2" charset="-52"/>
              </a:rPr>
              <a:t>игры — плавной, игровой </a:t>
            </a:r>
            <a:r>
              <a:rPr lang="ru-RU" sz="800" dirty="0">
                <a:solidFill>
                  <a:srgbClr val="9C84AC"/>
                </a:solidFill>
                <a:latin typeface="Hero" panose="00000500000000000000" pitchFamily="2" charset="-52"/>
              </a:rPr>
              <a:t>и </a:t>
            </a:r>
            <a:r>
              <a:rPr lang="ru-RU" sz="800" dirty="0" smtClean="0">
                <a:solidFill>
                  <a:srgbClr val="9C84AC"/>
                </a:solidFill>
                <a:latin typeface="Hero" panose="00000500000000000000" pitchFamily="2" charset="-52"/>
              </a:rPr>
              <a:t>энергичной системы </a:t>
            </a:r>
            <a:r>
              <a:rPr lang="ru-RU" sz="800" dirty="0">
                <a:solidFill>
                  <a:srgbClr val="9C84AC"/>
                </a:solidFill>
                <a:latin typeface="Hero" panose="00000500000000000000" pitchFamily="2" charset="-52"/>
              </a:rPr>
              <a:t>коррекции </a:t>
            </a:r>
            <a:r>
              <a:rPr lang="ru-RU" sz="800" dirty="0" smtClean="0">
                <a:solidFill>
                  <a:srgbClr val="9C84AC"/>
                </a:solidFill>
                <a:latin typeface="Hero" panose="00000500000000000000" pitchFamily="2" charset="-52"/>
              </a:rPr>
              <a:t>речи.</a:t>
            </a:r>
            <a:endParaRPr lang="ru-RU" sz="800" dirty="0">
              <a:solidFill>
                <a:srgbClr val="9C84AC"/>
              </a:solidFill>
              <a:latin typeface="Her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809455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915566"/>
            <a:ext cx="7772400" cy="6480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Актуальность проекта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491630"/>
            <a:ext cx="8640960" cy="3456384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Ф</a:t>
            </a:r>
            <a:r>
              <a:rPr lang="ru-RU" sz="2400" dirty="0" smtClean="0"/>
              <a:t>ормирование </a:t>
            </a:r>
            <a:r>
              <a:rPr lang="ru-RU" sz="2400" dirty="0"/>
              <a:t>и закрепление правильных </a:t>
            </a:r>
            <a:r>
              <a:rPr lang="ru-RU" sz="2400" dirty="0" smtClean="0"/>
              <a:t>навыков произношения  - особенно с использованием современных технологий и обратной связи.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И</a:t>
            </a:r>
            <a:r>
              <a:rPr lang="ru-RU" sz="2400" dirty="0" smtClean="0"/>
              <a:t>гровой </a:t>
            </a:r>
            <a:r>
              <a:rPr lang="ru-RU" sz="2400" dirty="0"/>
              <a:t>формат </a:t>
            </a:r>
            <a:r>
              <a:rPr lang="ru-RU" sz="2400" dirty="0" smtClean="0"/>
              <a:t>- решает </a:t>
            </a:r>
            <a:r>
              <a:rPr lang="ru-RU" sz="2400" dirty="0"/>
              <a:t>проблемы мотивации и доступности, позволяя проводить коррекционные занятия в удобной, привычной для ребенка домашней </a:t>
            </a:r>
            <a:r>
              <a:rPr lang="ru-RU" sz="2400" dirty="0" smtClean="0"/>
              <a:t>обстановке, без обязательного </a:t>
            </a:r>
            <a:r>
              <a:rPr lang="ru-RU" sz="2400" dirty="0"/>
              <a:t>постоянного присутствия </a:t>
            </a:r>
            <a:r>
              <a:rPr lang="ru-RU" sz="2400" dirty="0" smtClean="0"/>
              <a:t>специалиста.</a:t>
            </a:r>
          </a:p>
          <a:p>
            <a:pPr marL="457200" indent="-457200" algn="just">
              <a:buFont typeface="+mj-lt"/>
              <a:buAutoNum type="arabicPeriod"/>
            </a:pPr>
            <a:endParaRPr lang="ru-RU" sz="2400" dirty="0" smtClean="0"/>
          </a:p>
          <a:p>
            <a:pPr algn="just"/>
            <a:endParaRPr lang="ru-RU" sz="1800" dirty="0">
              <a:latin typeface="Her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91829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915566"/>
            <a:ext cx="7772400" cy="6480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Актуальность проекта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491630"/>
            <a:ext cx="8640960" cy="3456384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3"/>
            </a:pPr>
            <a:r>
              <a:rPr lang="ru-RU" sz="2400" dirty="0" smtClean="0"/>
              <a:t>Индивидуализация обучения – использование уровней сложности для подбора заданий </a:t>
            </a:r>
            <a:r>
              <a:rPr lang="ru-RU" sz="2400" dirty="0"/>
              <a:t>под конкретные проблемы </a:t>
            </a:r>
            <a:r>
              <a:rPr lang="ru-RU" sz="2400" dirty="0" smtClean="0"/>
              <a:t>ребёнка.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ru-RU" sz="2400" dirty="0" smtClean="0"/>
              <a:t>Доступность - возможность запуска </a:t>
            </a:r>
            <a:r>
              <a:rPr lang="ru-RU" sz="2400" dirty="0"/>
              <a:t>игры </a:t>
            </a:r>
            <a:r>
              <a:rPr lang="ru-RU" sz="2400" dirty="0" smtClean="0"/>
              <a:t>удалённо (в онлайн-режиме), </a:t>
            </a:r>
            <a:r>
              <a:rPr lang="ru-RU" sz="2400" dirty="0"/>
              <a:t>что позволит использовать продукт более широким слоям </a:t>
            </a:r>
            <a:r>
              <a:rPr lang="ru-RU" sz="2400" dirty="0" smtClean="0"/>
              <a:t>населения.</a:t>
            </a:r>
            <a:endParaRPr lang="ru-RU" sz="1800" dirty="0">
              <a:latin typeface="Her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316391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DC">
              <a:alpha val="10000"/>
            </a:srgb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143126"/>
            <a:ext cx="9144000" cy="932680"/>
          </a:xfrm>
          <a:prstGeom prst="rect">
            <a:avLst/>
          </a:prstGeom>
          <a:solidFill>
            <a:srgbClr val="7F5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1"/>
          </a:xfrm>
        </p:spPr>
        <p:txBody>
          <a:bodyPr>
            <a:noAutofit/>
          </a:bodyPr>
          <a:lstStyle/>
          <a:p>
            <a:r>
              <a:rPr lang="ru-RU" sz="6000" b="1" cap="all" dirty="0" smtClean="0">
                <a:solidFill>
                  <a:schemeClr val="bg1"/>
                </a:solidFill>
                <a:latin typeface="Hero Bold" pitchFamily="2" charset="-52"/>
              </a:rPr>
              <a:t>Команда</a:t>
            </a:r>
            <a:endParaRPr lang="ru-RU" sz="6000" b="1" cap="all" dirty="0">
              <a:solidFill>
                <a:schemeClr val="bg1"/>
              </a:solidFill>
              <a:latin typeface="Hero 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6313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ru-RU" sz="3200" dirty="0" smtClean="0"/>
              <a:t>КОМАНДА «</a:t>
            </a:r>
            <a:r>
              <a:rPr lang="en-US" sz="3200" dirty="0" smtClean="0"/>
              <a:t>Speak-SMILE</a:t>
            </a:r>
            <a:r>
              <a:rPr lang="ru-RU" sz="3200" dirty="0" smtClean="0"/>
              <a:t>»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01" b="2001"/>
          <a:stretch/>
        </p:blipFill>
        <p:spPr>
          <a:xfrm>
            <a:off x="1259632" y="843558"/>
            <a:ext cx="1656000" cy="25160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4D9EB"/>
            </a:solidFill>
            <a:round/>
          </a:ln>
          <a:effectLst/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00" t="16799" r="38050" b="32801"/>
          <a:stretch/>
        </p:blipFill>
        <p:spPr>
          <a:xfrm>
            <a:off x="5364088" y="843558"/>
            <a:ext cx="1656184" cy="25160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4D9EB"/>
            </a:solidFill>
            <a:round/>
          </a:ln>
          <a:effectLst/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-1798568" y="3294076"/>
            <a:ext cx="77724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 cap="all">
                <a:solidFill>
                  <a:srgbClr val="402A63"/>
                </a:solidFill>
                <a:latin typeface="Hero Bold" pitchFamily="2" charset="-52"/>
                <a:ea typeface="+mj-ea"/>
                <a:cs typeface="+mj-cs"/>
              </a:defRPr>
            </a:lvl1pPr>
          </a:lstStyle>
          <a:p>
            <a:r>
              <a:rPr lang="ru-RU" sz="1400" cap="none" dirty="0" smtClean="0"/>
              <a:t>Имамов </a:t>
            </a:r>
            <a:r>
              <a:rPr lang="ru-RU" sz="1400" cap="none" dirty="0" err="1" smtClean="0"/>
              <a:t>Нариман</a:t>
            </a:r>
            <a:endParaRPr lang="ru-RU" sz="1400" cap="none" dirty="0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2305980" y="3294076"/>
            <a:ext cx="77724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 cap="all">
                <a:solidFill>
                  <a:srgbClr val="402A63"/>
                </a:solidFill>
                <a:latin typeface="Hero Bold" pitchFamily="2" charset="-52"/>
                <a:ea typeface="+mj-ea"/>
                <a:cs typeface="+mj-cs"/>
              </a:defRPr>
            </a:lvl1pPr>
          </a:lstStyle>
          <a:p>
            <a:r>
              <a:rPr lang="ru-RU" sz="1400" cap="none" dirty="0" smtClean="0"/>
              <a:t>Сафьянников Артем</a:t>
            </a:r>
            <a:endParaRPr lang="ru-RU" sz="1400" cap="none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48434" y="3638923"/>
            <a:ext cx="2878396" cy="396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20000"/>
              </a:spcBef>
              <a:buFont typeface="Arial" pitchFamily="34" charset="0"/>
              <a:buNone/>
            </a:pPr>
            <a:r>
              <a:rPr lang="ru-RU" sz="1200" dirty="0" smtClean="0">
                <a:solidFill>
                  <a:srgbClr val="9C84AC"/>
                </a:solidFill>
                <a:latin typeface="Hero" panose="00000500000000000000" pitchFamily="2" charset="-52"/>
              </a:rPr>
              <a:t>Программист, дизайнер</a:t>
            </a:r>
            <a:endParaRPr lang="ru-RU" sz="1200" dirty="0">
              <a:solidFill>
                <a:srgbClr val="9C84AC"/>
              </a:solidFill>
              <a:latin typeface="Hero" panose="00000500000000000000" pitchFamily="2" charset="-52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748852" y="3632970"/>
            <a:ext cx="2878396" cy="3962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20000"/>
              </a:spcBef>
              <a:buFont typeface="Arial" pitchFamily="34" charset="0"/>
              <a:buNone/>
            </a:pPr>
            <a:r>
              <a:rPr lang="ru-RU" sz="1200" dirty="0" smtClean="0">
                <a:solidFill>
                  <a:srgbClr val="9C84AC"/>
                </a:solidFill>
                <a:latin typeface="Hero" panose="00000500000000000000" pitchFamily="2" charset="-52"/>
              </a:rPr>
              <a:t>Куратор, </a:t>
            </a:r>
            <a:r>
              <a:rPr lang="ru-RU" sz="1200" dirty="0" err="1" smtClean="0">
                <a:solidFill>
                  <a:srgbClr val="9C84AC"/>
                </a:solidFill>
                <a:latin typeface="Hero" panose="00000500000000000000" pitchFamily="2" charset="-52"/>
              </a:rPr>
              <a:t>тестировщик</a:t>
            </a:r>
            <a:endParaRPr lang="ru-RU" sz="1200" dirty="0">
              <a:solidFill>
                <a:srgbClr val="9C84AC"/>
              </a:solidFill>
              <a:latin typeface="Her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292989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DC">
              <a:alpha val="10000"/>
            </a:srgb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143126"/>
            <a:ext cx="9144000" cy="932680"/>
          </a:xfrm>
          <a:prstGeom prst="rect">
            <a:avLst/>
          </a:prstGeom>
          <a:solidFill>
            <a:srgbClr val="7F5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1"/>
          </a:xfrm>
        </p:spPr>
        <p:txBody>
          <a:bodyPr>
            <a:noAutofit/>
          </a:bodyPr>
          <a:lstStyle/>
          <a:p>
            <a:r>
              <a:rPr lang="ru-RU" sz="6000" b="1" cap="all" dirty="0" smtClean="0">
                <a:solidFill>
                  <a:schemeClr val="bg1"/>
                </a:solidFill>
                <a:latin typeface="Hero Bold" pitchFamily="2" charset="-52"/>
              </a:rPr>
              <a:t>ИНСТРУМЕНТЫ</a:t>
            </a:r>
            <a:endParaRPr lang="ru-RU" sz="6000" b="1" cap="all" dirty="0">
              <a:solidFill>
                <a:schemeClr val="bg1"/>
              </a:solidFill>
              <a:latin typeface="Hero 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567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3174802"/>
            <a:ext cx="7772400" cy="6480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Движок - </a:t>
            </a:r>
            <a:r>
              <a:rPr lang="en-US" sz="3200" dirty="0" err="1" smtClean="0"/>
              <a:t>mBlock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3822874"/>
            <a:ext cx="8640960" cy="11251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 err="1"/>
              <a:t>mBlock</a:t>
            </a:r>
            <a:r>
              <a:rPr lang="ru-RU" dirty="0"/>
              <a:t> – </a:t>
            </a:r>
            <a:r>
              <a:rPr lang="ru-RU" dirty="0" err="1"/>
              <a:t>блочно</a:t>
            </a:r>
            <a:r>
              <a:rPr lang="ru-RU" dirty="0"/>
              <a:t>-модульная графическая среда программирования от компании </a:t>
            </a:r>
            <a:r>
              <a:rPr lang="ru-RU" dirty="0" err="1"/>
              <a:t>MakeBlock</a:t>
            </a:r>
            <a:r>
              <a:rPr lang="ru-RU" dirty="0"/>
              <a:t>, основанная на популярнейшей среде </a:t>
            </a:r>
            <a:r>
              <a:rPr lang="ru-RU" dirty="0" err="1"/>
              <a:t>Scratch</a:t>
            </a:r>
            <a:r>
              <a:rPr lang="ru-RU" dirty="0"/>
              <a:t> с добавлением возможностей управлять электронными устройствами.</a:t>
            </a:r>
            <a:endParaRPr lang="ru-RU" sz="1800" dirty="0">
              <a:latin typeface="Hero" pitchFamily="2" charset="-5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67494"/>
            <a:ext cx="2376264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38160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DC">
              <a:alpha val="10000"/>
            </a:srgb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143126"/>
            <a:ext cx="9144000" cy="932680"/>
          </a:xfrm>
          <a:prstGeom prst="rect">
            <a:avLst/>
          </a:prstGeom>
          <a:solidFill>
            <a:srgbClr val="7F5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1"/>
          </a:xfrm>
        </p:spPr>
        <p:txBody>
          <a:bodyPr>
            <a:noAutofit/>
          </a:bodyPr>
          <a:lstStyle/>
          <a:p>
            <a:r>
              <a:rPr lang="ru-RU" sz="6000" b="1" cap="all" dirty="0" smtClean="0">
                <a:solidFill>
                  <a:schemeClr val="bg1"/>
                </a:solidFill>
                <a:latin typeface="Hero Bold" pitchFamily="2" charset="-52"/>
              </a:rPr>
              <a:t>Разработка</a:t>
            </a:r>
            <a:endParaRPr lang="ru-RU" sz="6000" b="1" cap="all" dirty="0">
              <a:solidFill>
                <a:schemeClr val="bg1"/>
              </a:solidFill>
              <a:latin typeface="Hero 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7261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273348"/>
            <a:ext cx="7772400" cy="648072"/>
          </a:xfrm>
        </p:spPr>
        <p:txBody>
          <a:bodyPr anchor="ctr">
            <a:normAutofit/>
          </a:bodyPr>
          <a:lstStyle/>
          <a:p>
            <a:r>
              <a:rPr lang="ru-RU" sz="3200" dirty="0" smtClean="0"/>
              <a:t>Главное меню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881" y="787129"/>
            <a:ext cx="4488239" cy="33266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4D9EB"/>
            </a:solidFill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190881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273348"/>
            <a:ext cx="7772400" cy="648072"/>
          </a:xfrm>
        </p:spPr>
        <p:txBody>
          <a:bodyPr anchor="ctr">
            <a:normAutofit/>
          </a:bodyPr>
          <a:lstStyle/>
          <a:p>
            <a:r>
              <a:rPr lang="ru-RU" sz="3200" dirty="0" smtClean="0"/>
              <a:t>ОБУЧЕНИЕ ПОЛЬЗОВАТЕЛЯ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363" y="771550"/>
            <a:ext cx="4445274" cy="33577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4D9EB"/>
            </a:solidFill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16717753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273348"/>
            <a:ext cx="7772400" cy="648072"/>
          </a:xfrm>
        </p:spPr>
        <p:txBody>
          <a:bodyPr anchor="ctr">
            <a:normAutofit/>
          </a:bodyPr>
          <a:lstStyle/>
          <a:p>
            <a:r>
              <a:rPr lang="ru-RU" sz="3200" dirty="0" smtClean="0"/>
              <a:t>ВЫБОР УРОВНЯ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363" y="773011"/>
            <a:ext cx="4445274" cy="33548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4D9EB"/>
            </a:solidFill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9904737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273348"/>
            <a:ext cx="7772400" cy="648072"/>
          </a:xfrm>
        </p:spPr>
        <p:txBody>
          <a:bodyPr anchor="ctr">
            <a:normAutofit/>
          </a:bodyPr>
          <a:lstStyle/>
          <a:p>
            <a:r>
              <a:rPr lang="ru-RU" sz="3200" dirty="0" smtClean="0"/>
              <a:t>УРОВЕНЬ ПЯТЫЙ – ЗАПРОС СЛОВА   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363" y="775519"/>
            <a:ext cx="4445274" cy="33498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4D9EB"/>
            </a:solidFill>
            <a:round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824757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273348"/>
            <a:ext cx="7772400" cy="648072"/>
          </a:xfrm>
        </p:spPr>
        <p:txBody>
          <a:bodyPr anchor="ctr">
            <a:normAutofit/>
          </a:bodyPr>
          <a:lstStyle/>
          <a:p>
            <a:r>
              <a:rPr lang="ru-RU" sz="3200" dirty="0" smtClean="0"/>
              <a:t>УРОВЕНЬ ПЯТЫЙ – СЛОВО «КОСМОС»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363" y="785940"/>
            <a:ext cx="4445274" cy="33289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4D9EB"/>
            </a:solidFill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752013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273348"/>
            <a:ext cx="7772400" cy="648072"/>
          </a:xfrm>
        </p:spPr>
        <p:txBody>
          <a:bodyPr anchor="ctr">
            <a:normAutofit/>
          </a:bodyPr>
          <a:lstStyle/>
          <a:p>
            <a:r>
              <a:rPr lang="ru-RU" sz="3200" dirty="0" smtClean="0"/>
              <a:t>ОСНОВНОЙ КОД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30" y="699542"/>
            <a:ext cx="7089540" cy="34851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4D9EB"/>
            </a:solidFill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3680839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4273348"/>
            <a:ext cx="7772400" cy="648072"/>
          </a:xfrm>
        </p:spPr>
        <p:txBody>
          <a:bodyPr anchor="ctr">
            <a:normAutofit/>
          </a:bodyPr>
          <a:lstStyle/>
          <a:p>
            <a:r>
              <a:rPr lang="ru-RU" sz="3200" dirty="0" smtClean="0"/>
              <a:t>ДЕМОНСТРАЦИЯ СО СТОРОНЫ</a:t>
            </a:r>
            <a:endParaRPr lang="ru-RU" sz="3200" dirty="0"/>
          </a:p>
        </p:txBody>
      </p:sp>
      <p:pic>
        <p:nvPicPr>
          <p:cNvPr id="3" name="2_530119215679750502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59461" y="587234"/>
            <a:ext cx="6425078" cy="3614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4D9EB"/>
            </a:solidFill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9121482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D1DC">
              <a:alpha val="10000"/>
            </a:srgbClr>
          </a:solidFill>
          <a:ln w="381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143126"/>
            <a:ext cx="9144000" cy="932680"/>
          </a:xfrm>
          <a:prstGeom prst="rect">
            <a:avLst/>
          </a:prstGeom>
          <a:solidFill>
            <a:srgbClr val="7F5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1"/>
          </a:xfrm>
        </p:spPr>
        <p:txBody>
          <a:bodyPr>
            <a:noAutofit/>
          </a:bodyPr>
          <a:lstStyle/>
          <a:p>
            <a:r>
              <a:rPr lang="ru-RU" sz="6000" b="1" cap="all" dirty="0" smtClean="0">
                <a:solidFill>
                  <a:schemeClr val="bg1"/>
                </a:solidFill>
                <a:latin typeface="Hero Bold" pitchFamily="2" charset="-52"/>
              </a:rPr>
              <a:t>ИТОГИ</a:t>
            </a:r>
            <a:endParaRPr lang="ru-RU" sz="6000" b="1" cap="all" dirty="0">
              <a:solidFill>
                <a:schemeClr val="bg1"/>
              </a:solidFill>
              <a:latin typeface="Hero Bol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4374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915566"/>
            <a:ext cx="7772400" cy="6480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ОСНОВНОЙ ИТОГ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491630"/>
            <a:ext cx="8640960" cy="3456384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О</a:t>
            </a:r>
            <a:r>
              <a:rPr lang="ru-RU" sz="2400" dirty="0" smtClean="0"/>
              <a:t>своена </a:t>
            </a:r>
            <a:r>
              <a:rPr lang="ru-RU" sz="2400" dirty="0"/>
              <a:t>среда </a:t>
            </a:r>
            <a:r>
              <a:rPr lang="ru-RU" sz="2400" dirty="0" err="1"/>
              <a:t>mBlock</a:t>
            </a:r>
            <a:r>
              <a:rPr lang="ru-RU" sz="2400" dirty="0"/>
              <a:t>, </a:t>
            </a:r>
            <a:r>
              <a:rPr lang="ru-RU" sz="2400" dirty="0" smtClean="0"/>
              <a:t>а также использован и адаптирован под необходимые задачи алгоритм распознавания звуков.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С</a:t>
            </a:r>
            <a:r>
              <a:rPr lang="ru-RU" sz="2400" dirty="0" smtClean="0"/>
              <a:t>оздан </a:t>
            </a:r>
            <a:r>
              <a:rPr lang="ru-RU" sz="2400" dirty="0"/>
              <a:t>пользовательский интерфейс, ориентированный на </a:t>
            </a:r>
            <a:r>
              <a:rPr lang="ru-RU" sz="2400" dirty="0" smtClean="0"/>
              <a:t>логопедов и детей.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 smtClean="0"/>
              <a:t>Проведён сбор обратной связи с тестирования первой версии игры.</a:t>
            </a:r>
          </a:p>
          <a:p>
            <a:pPr algn="just"/>
            <a:endParaRPr lang="ru-RU" sz="1800" dirty="0">
              <a:latin typeface="Her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860760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915566"/>
            <a:ext cx="7772400" cy="6480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ТЕХНИЧЕСКИЕ «ШОКОЛАДКИ»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491630"/>
            <a:ext cx="8640960" cy="3456384"/>
          </a:xfrm>
        </p:spPr>
        <p:txBody>
          <a:bodyPr>
            <a:normAutofit/>
          </a:bodyPr>
          <a:lstStyle/>
          <a:p>
            <a:pPr algn="just"/>
            <a:r>
              <a:rPr lang="ru-RU" sz="2400" dirty="0" smtClean="0"/>
              <a:t>В процессе работы над проектом возникали </a:t>
            </a:r>
            <a:r>
              <a:rPr lang="ru-RU" sz="2400" b="1" dirty="0" smtClean="0"/>
              <a:t>следующие проблемы</a:t>
            </a:r>
            <a:r>
              <a:rPr lang="ru-RU" sz="2400" dirty="0" smtClean="0"/>
              <a:t>: </a:t>
            </a:r>
          </a:p>
          <a:p>
            <a:pPr marL="342900" indent="-342900" algn="just">
              <a:buFont typeface="Hero" panose="00000500000000000000" pitchFamily="2" charset="-52"/>
              <a:buChar char="—"/>
            </a:pPr>
            <a:r>
              <a:rPr lang="ru-RU" sz="2400" dirty="0"/>
              <a:t>п</a:t>
            </a:r>
            <a:r>
              <a:rPr lang="ru-RU" sz="2400" dirty="0" smtClean="0"/>
              <a:t>равильное распознавание активного оборудования для записи звука</a:t>
            </a:r>
            <a:r>
              <a:rPr lang="en-US" sz="2400" dirty="0" smtClean="0"/>
              <a:t>;</a:t>
            </a:r>
          </a:p>
          <a:p>
            <a:pPr marL="342900" indent="-342900" algn="just">
              <a:buFont typeface="Hero" panose="00000500000000000000" pitchFamily="2" charset="-52"/>
              <a:buChar char="—"/>
            </a:pPr>
            <a:r>
              <a:rPr lang="ru-RU" sz="2400" dirty="0" smtClean="0"/>
              <a:t>во время записи звука через беспроводные наушники звук игры на время отключается</a:t>
            </a:r>
            <a:r>
              <a:rPr lang="en-US" sz="2400" dirty="0" smtClean="0"/>
              <a:t>;</a:t>
            </a:r>
          </a:p>
          <a:p>
            <a:pPr marL="342900" indent="-342900" algn="just">
              <a:buFont typeface="Hero" panose="00000500000000000000" pitchFamily="2" charset="-52"/>
              <a:buChar char="—"/>
            </a:pPr>
            <a:r>
              <a:rPr lang="ru-RU" sz="2400" dirty="0"/>
              <a:t>м</a:t>
            </a:r>
            <a:r>
              <a:rPr lang="ru-RU" sz="2400" dirty="0" smtClean="0"/>
              <a:t>ало возможностей для редактирования спрайтов и текста в </a:t>
            </a:r>
            <a:r>
              <a:rPr lang="en-US" sz="2400" dirty="0" err="1" smtClean="0"/>
              <a:t>mBlock</a:t>
            </a:r>
            <a:r>
              <a:rPr lang="en-US" sz="2400" dirty="0" smtClean="0"/>
              <a:t>.</a:t>
            </a:r>
            <a:endParaRPr lang="ru-RU" sz="2400" dirty="0" smtClean="0"/>
          </a:p>
          <a:p>
            <a:pPr marL="342900" indent="-342900" algn="just">
              <a:buFont typeface="Hero" panose="00000500000000000000" pitchFamily="2" charset="-52"/>
              <a:buChar char="—"/>
            </a:pPr>
            <a:endParaRPr lang="ru-RU" sz="2400" b="1" dirty="0" smtClean="0"/>
          </a:p>
          <a:p>
            <a:pPr algn="just"/>
            <a:endParaRPr lang="ru-RU" sz="1800" dirty="0">
              <a:latin typeface="Her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529536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915566"/>
            <a:ext cx="7772400" cy="6480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Что планируем добавить</a:t>
            </a:r>
            <a:endParaRPr lang="ru-RU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491630"/>
            <a:ext cx="8640960" cy="3456384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Масштабирование проекта контентом: создание уровней в порядке алфавита, а не «по номерам».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Рассматривается возможность добавления </a:t>
            </a:r>
            <a:r>
              <a:rPr lang="ru-RU" sz="2400" dirty="0" smtClean="0"/>
              <a:t>различных мультипликационных </a:t>
            </a:r>
            <a:r>
              <a:rPr lang="ru-RU" sz="2400" dirty="0"/>
              <a:t>персонажей.</a:t>
            </a:r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/>
              <a:t>Создание системы наград </a:t>
            </a:r>
            <a:r>
              <a:rPr lang="ru-RU" sz="2400" dirty="0" smtClean="0"/>
              <a:t>и уровней сложности для </a:t>
            </a:r>
            <a:r>
              <a:rPr lang="ru-RU" sz="2400" dirty="0"/>
              <a:t>детей с </a:t>
            </a:r>
            <a:r>
              <a:rPr lang="ru-RU" sz="2400" dirty="0" smtClean="0"/>
              <a:t>проблемой </a:t>
            </a:r>
            <a:r>
              <a:rPr lang="ru-RU" sz="2400" dirty="0"/>
              <a:t>концентрации внимания (</a:t>
            </a:r>
            <a:r>
              <a:rPr lang="ru-RU" sz="2400" dirty="0" smtClean="0"/>
              <a:t>если позволит среда </a:t>
            </a:r>
            <a:r>
              <a:rPr lang="en-US" sz="2400" dirty="0" err="1" smtClean="0"/>
              <a:t>mBlock</a:t>
            </a:r>
            <a:r>
              <a:rPr lang="ru-RU" sz="2400" dirty="0" smtClean="0"/>
              <a:t>).</a:t>
            </a:r>
          </a:p>
          <a:p>
            <a:pPr algn="just"/>
            <a:endParaRPr lang="ru-RU" sz="2400" b="1" dirty="0"/>
          </a:p>
          <a:p>
            <a:pPr marL="342900" indent="-342900" algn="just">
              <a:buFont typeface="Hero" panose="00000500000000000000" pitchFamily="2" charset="-52"/>
              <a:buChar char="—"/>
            </a:pPr>
            <a:endParaRPr lang="ru-RU" sz="2400" b="1" dirty="0" smtClean="0"/>
          </a:p>
          <a:p>
            <a:pPr algn="just"/>
            <a:endParaRPr lang="ru-RU" sz="1800" dirty="0">
              <a:latin typeface="Her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662966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Знакомство с «</a:t>
            </a:r>
            <a:r>
              <a:rPr lang="en-US" dirty="0" smtClean="0"/>
              <a:t>SPEAK-SMILE</a:t>
            </a:r>
            <a:r>
              <a:rPr lang="ru-RU" dirty="0" smtClean="0"/>
              <a:t>»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059582"/>
            <a:ext cx="2825389" cy="282538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23528" y="987574"/>
            <a:ext cx="4572000" cy="282538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457200" algn="just">
              <a:spcBef>
                <a:spcPct val="20000"/>
              </a:spcBef>
              <a:buFont typeface="+mj-lt"/>
              <a:buAutoNum type="arabicPeriod"/>
            </a:pPr>
            <a:r>
              <a:rPr lang="ru-RU" sz="2400" b="1" dirty="0" smtClean="0">
                <a:solidFill>
                  <a:srgbClr val="9C84AC"/>
                </a:solidFill>
                <a:latin typeface="Hero" panose="00000500000000000000" pitchFamily="2" charset="-52"/>
              </a:rPr>
              <a:t>Демонстрация возможностей проекта:</a:t>
            </a:r>
            <a:br>
              <a:rPr lang="ru-RU" sz="2400" b="1" dirty="0" smtClean="0">
                <a:solidFill>
                  <a:srgbClr val="9C84AC"/>
                </a:solidFill>
                <a:latin typeface="Hero" panose="00000500000000000000" pitchFamily="2" charset="-52"/>
              </a:rPr>
            </a:br>
            <a:r>
              <a:rPr lang="en-US" sz="2400" b="1" dirty="0" smtClean="0">
                <a:solidFill>
                  <a:srgbClr val="9C84AC"/>
                </a:solidFill>
                <a:latin typeface="Hero" panose="00000500000000000000" pitchFamily="2" charset="-52"/>
                <a:hlinkClick r:id="rId3"/>
              </a:rPr>
              <a:t>https</a:t>
            </a:r>
            <a:r>
              <a:rPr lang="en-US" sz="2400" b="1" dirty="0">
                <a:solidFill>
                  <a:srgbClr val="9C84AC"/>
                </a:solidFill>
                <a:latin typeface="Hero" panose="00000500000000000000" pitchFamily="2" charset="-52"/>
                <a:hlinkClick r:id="rId3"/>
              </a:rPr>
              <a:t>://</a:t>
            </a:r>
            <a:r>
              <a:rPr lang="en-US" sz="2400" b="1" dirty="0" smtClean="0">
                <a:solidFill>
                  <a:srgbClr val="9C84AC"/>
                </a:solidFill>
                <a:latin typeface="Hero" panose="00000500000000000000" pitchFamily="2" charset="-52"/>
                <a:hlinkClick r:id="rId3"/>
              </a:rPr>
              <a:t>cloud.mail.ru/public/BrYa/KGQCWPL5N</a:t>
            </a:r>
            <a:r>
              <a:rPr lang="ru-RU" sz="2400" b="1" dirty="0" smtClean="0">
                <a:solidFill>
                  <a:srgbClr val="9C84AC"/>
                </a:solidFill>
                <a:latin typeface="Hero" panose="00000500000000000000" pitchFamily="2" charset="-52"/>
              </a:rPr>
              <a:t> </a:t>
            </a:r>
          </a:p>
          <a:p>
            <a:pPr marL="457200" lvl="0" indent="-457200" algn="just">
              <a:spcBef>
                <a:spcPct val="20000"/>
              </a:spcBef>
              <a:buFont typeface="+mj-lt"/>
              <a:buAutoNum type="arabicPeriod"/>
            </a:pPr>
            <a:r>
              <a:rPr lang="ru-RU" sz="2400" b="1" dirty="0" smtClean="0">
                <a:solidFill>
                  <a:srgbClr val="9C84AC"/>
                </a:solidFill>
                <a:latin typeface="Hero" panose="00000500000000000000" pitchFamily="2" charset="-52"/>
              </a:rPr>
              <a:t>Ссылка на веб-версию: </a:t>
            </a:r>
            <a:r>
              <a:rPr lang="en-US" sz="2400" b="1" dirty="0" smtClean="0">
                <a:solidFill>
                  <a:srgbClr val="9C84AC"/>
                </a:solidFill>
                <a:latin typeface="Hero" panose="00000500000000000000" pitchFamily="2" charset="-52"/>
                <a:hlinkClick r:id="rId4"/>
              </a:rPr>
              <a:t>https</a:t>
            </a:r>
            <a:r>
              <a:rPr lang="en-US" sz="2400" b="1" dirty="0">
                <a:solidFill>
                  <a:srgbClr val="9C84AC"/>
                </a:solidFill>
                <a:latin typeface="Hero" panose="00000500000000000000" pitchFamily="2" charset="-52"/>
                <a:hlinkClick r:id="rId4"/>
              </a:rPr>
              <a:t>://</a:t>
            </a:r>
            <a:r>
              <a:rPr lang="en-US" sz="2400" b="1" dirty="0" smtClean="0">
                <a:solidFill>
                  <a:srgbClr val="9C84AC"/>
                </a:solidFill>
                <a:latin typeface="Hero" panose="00000500000000000000" pitchFamily="2" charset="-52"/>
                <a:hlinkClick r:id="rId4"/>
              </a:rPr>
              <a:t>planet.mblock.cc/project/5446454</a:t>
            </a:r>
            <a:r>
              <a:rPr lang="ru-RU" sz="2400" b="1" dirty="0" smtClean="0">
                <a:solidFill>
                  <a:srgbClr val="9C84AC"/>
                </a:solidFill>
                <a:latin typeface="Hero" panose="00000500000000000000" pitchFamily="2" charset="-52"/>
              </a:rPr>
              <a:t> </a:t>
            </a:r>
            <a:endParaRPr lang="ru-RU" sz="2400" b="1" dirty="0">
              <a:solidFill>
                <a:srgbClr val="9C84AC"/>
              </a:solidFill>
              <a:latin typeface="Hero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667157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80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1062</TotalTime>
  <Words>434</Words>
  <Application>Microsoft Office PowerPoint</Application>
  <PresentationFormat>Экран (16:9)</PresentationFormat>
  <Paragraphs>69</Paragraphs>
  <Slides>27</Slides>
  <Notes>8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Hero</vt:lpstr>
      <vt:lpstr>Hero Bold</vt:lpstr>
      <vt:lpstr>Тема Office</vt:lpstr>
      <vt:lpstr>Презентация PowerPoint</vt:lpstr>
      <vt:lpstr>Проблема</vt:lpstr>
      <vt:lpstr>проблема – дефект Речи у детей</vt:lpstr>
      <vt:lpstr>ЦЕЛЬ</vt:lpstr>
      <vt:lpstr>ЦЕЛЬ ПРОЕКТА</vt:lpstr>
      <vt:lpstr>ЗАДАЧИ</vt:lpstr>
      <vt:lpstr>Задачи ПРОЕКТА</vt:lpstr>
      <vt:lpstr>Актуальность проекта</vt:lpstr>
      <vt:lpstr>Актуальность проекта</vt:lpstr>
      <vt:lpstr>Команда</vt:lpstr>
      <vt:lpstr>КОМАНДА «Speak-SMILE»</vt:lpstr>
      <vt:lpstr>ИНСТРУМЕНТЫ</vt:lpstr>
      <vt:lpstr>Движок - mBlock</vt:lpstr>
      <vt:lpstr>Разработка</vt:lpstr>
      <vt:lpstr>Главное меню</vt:lpstr>
      <vt:lpstr>ОБУЧЕНИЕ ПОЛЬЗОВАТЕЛЯ</vt:lpstr>
      <vt:lpstr>ВЫБОР УРОВНЯ</vt:lpstr>
      <vt:lpstr>УРОВЕНЬ ПЯТЫЙ – ЗАПРОС СЛОВА   </vt:lpstr>
      <vt:lpstr>УРОВЕНЬ ПЯТЫЙ – СЛОВО «КОСМОС»</vt:lpstr>
      <vt:lpstr>ОСНОВНОЙ КОД</vt:lpstr>
      <vt:lpstr>ДЕМОНСТРАЦИЯ СО СТОРОНЫ</vt:lpstr>
      <vt:lpstr>ИТОГИ</vt:lpstr>
      <vt:lpstr>ОСНОВНОЙ ИТОГ</vt:lpstr>
      <vt:lpstr>ТЕХНИЧЕСКИЕ «ШОКОЛАДКИ»</vt:lpstr>
      <vt:lpstr>Что планируем добавить</vt:lpstr>
      <vt:lpstr>Знакомство с «SPEAK-SMILE»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ВИКТОРИНА</dc:title>
  <dc:creator>Артем Николаевич</dc:creator>
  <cp:lastModifiedBy>Campus</cp:lastModifiedBy>
  <cp:revision>244</cp:revision>
  <dcterms:created xsi:type="dcterms:W3CDTF">2022-07-22T11:00:04Z</dcterms:created>
  <dcterms:modified xsi:type="dcterms:W3CDTF">2026-09-28T14:10:58Z</dcterms:modified>
</cp:coreProperties>
</file>